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3716000" cx="24384000"/>
  <p:notesSz cx="6858000" cy="9144000"/>
  <p:embeddedFontLst>
    <p:embeddedFont>
      <p:font typeface="Nanum Gothic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5313C8-525D-4EB1-8E51-D03111B0AB0B}">
  <a:tblStyle styleId="{725313C8-525D-4EB1-8E51-D03111B0AB0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anumGothic-regular.fnt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anum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9.jpg"/><Relationship Id="rId5" Type="http://schemas.openxmlformats.org/officeDocument/2006/relationships/image" Target="../media/image25.jp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7.jp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987800" y="4648200"/>
            <a:ext cx="16408400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700">
            <a:noAutofit/>
          </a:bodyPr>
          <a:lstStyle/>
          <a:p>
            <a:pPr indent="0" lvl="0" marL="0" marR="0" rtl="0" algn="ctr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Adder_FND 설계 보고서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143000" y="11671300"/>
            <a:ext cx="424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김태수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2026.07.20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100" y="12331700"/>
            <a:ext cx="24612600" cy="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0393">
            <a:off x="2082800" y="4102100"/>
            <a:ext cx="13335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0393">
            <a:off x="2082800" y="6832600"/>
            <a:ext cx="13335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0393">
            <a:off x="2082800" y="9563100"/>
            <a:ext cx="13335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20393">
            <a:off x="2082800" y="12293600"/>
            <a:ext cx="1333500" cy="6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4"/>
          <p:cNvGraphicFramePr/>
          <p:nvPr/>
        </p:nvGraphicFramePr>
        <p:xfrm>
          <a:off x="1257300" y="2349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{725313C8-525D-4EB1-8E51-D03111B0AB0B}</a:tableStyleId>
              </a:tblPr>
              <a:tblGrid>
                <a:gridCol w="3019050"/>
                <a:gridCol w="7012600"/>
                <a:gridCol w="3060025"/>
                <a:gridCol w="6971625"/>
              </a:tblGrid>
              <a:tr h="2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41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</a:t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3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개요</a:t>
                      </a:r>
                      <a:endParaRPr sz="1100" u="none" cap="none" strike="noStrike"/>
                    </a:p>
                  </a:txBody>
                  <a:tcPr marT="100325" marB="100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41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</a:t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3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설계 및 구현</a:t>
                      </a:r>
                      <a:endParaRPr sz="1100" u="none" cap="none" strike="noStrike"/>
                    </a:p>
                  </a:txBody>
                  <a:tcPr marT="100325" marB="100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41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</a:t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3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동작영상</a:t>
                      </a:r>
                      <a:endParaRPr sz="1100" u="none" cap="none" strike="noStrike"/>
                    </a:p>
                  </a:txBody>
                  <a:tcPr marT="100325" marB="100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278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41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</a:t>
                      </a:r>
                      <a:endParaRPr sz="1100" u="none" cap="none" strike="noStrike"/>
                    </a:p>
                  </a:txBody>
                  <a:tcPr marT="102825" marB="1028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3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결론 및 고찰</a:t>
                      </a:r>
                      <a:endParaRPr sz="1100" u="none" cap="none" strike="noStrike"/>
                    </a:p>
                  </a:txBody>
                  <a:tcPr marT="100325" marB="100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25400" marB="25400" marR="25400" marL="254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14"/>
          <p:cNvSpPr txBox="1"/>
          <p:nvPr/>
        </p:nvSpPr>
        <p:spPr>
          <a:xfrm>
            <a:off x="1257300" y="927100"/>
            <a:ext cx="21463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4694205"/>
            <a:ext cx="215773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4089400" y="2954305"/>
            <a:ext cx="170053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adder_fnd를 설계하며  7segment의 개념과 always문 선언시 주의해야할 점, verilog에서의 삼항 연산자, ALU, MUX, DECODER, BCD의 개념을 익힌다.</a:t>
            </a:r>
            <a:b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</a:b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257300" y="5278405"/>
            <a:ext cx="30226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02 추상화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57300" y="2954305"/>
            <a:ext cx="2324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01 목적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257300" y="927100"/>
            <a:ext cx="27686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개요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102100" y="10815605"/>
            <a:ext cx="22428200" cy="2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digit_splitter (ALU) : 8비트로 들어오는 데이터를 자릿수로 나누어 출력 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MUX 4x1 : 입력 4개를 sel을 통해 출력을 선택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BCD : 4비트 입력을 8비트 출력으로 바꿔주며 segment를 제어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DECODER 2x4 : 2비트 입력을 4비트 출력으로 바꿔주며 segment의 자리를 제어</a:t>
            </a:r>
            <a:endParaRPr/>
          </a:p>
        </p:txBody>
      </p:sp>
      <p:pic>
        <p:nvPicPr>
          <p:cNvPr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2100" y="4922805"/>
            <a:ext cx="11163300" cy="58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257300" y="2565400"/>
            <a:ext cx="3492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01 ALU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기능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257300" y="6362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2) 주요 코드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257300" y="4330700"/>
            <a:ext cx="2242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adder에서 넘어오는 8비트 데이터를 각자릿수로 나누어 출력한다.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0" y="4152900"/>
            <a:ext cx="5486400" cy="548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300" y="7188200"/>
            <a:ext cx="9017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257300" y="9753600"/>
            <a:ext cx="224282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assign 문을 통해 출력으로 선언된 digit을 %와 / 연산을 이용해 자릿수를 계산한다.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주의할 점은 ( ) 을 사용하여 우선순위를 지켜주도록 한다.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6764000" y="34290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3) 블럭도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257300" y="2565400"/>
            <a:ext cx="3492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01 ALU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4) schematic</a:t>
            </a: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4248150"/>
            <a:ext cx="19392900" cy="7780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1257300" y="2565400"/>
            <a:ext cx="5537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02 MUX 4x1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기능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1257300" y="6362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2) 주요 코드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1257300" y="4330700"/>
            <a:ext cx="2242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ALU에서 넘어오는 각자릿수 4비트 데이터를 sel 신호를 통해 제어 하여 mux_out로 출력한다.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1257300" y="9753600"/>
            <a:ext cx="224282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assign 문안에서는 삼항연산자를 사용할 수있어 sel 신호에 따라 입력 digit을 골라 mux_out으로 출력한다.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default 값(4'b1111)를 꼭 설정하여 예상치 못하게 mux_out이 x,z 값, latch 현상이 발생하지 않도록 주의한다 </a:t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0" y="4140200"/>
            <a:ext cx="5486400" cy="516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6764000" y="34290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3) 블럭도</a:t>
            </a:r>
            <a:endParaRPr/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300" y="7188200"/>
            <a:ext cx="12166600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1257300" y="25654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02 MUX 4x1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4) schematic</a:t>
            </a:r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399" y="4229100"/>
            <a:ext cx="21198017" cy="45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1257300" y="2565400"/>
            <a:ext cx="5537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03 BCD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기능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1257300" y="6362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2) 주요 코드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1257300" y="12217400"/>
            <a:ext cx="2242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always 문 안에서 값을 넣어주기 위해 반드시 bcd_out는 reg타입으로 선언되어야한다.</a:t>
            </a:r>
            <a:endParaRPr/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05100" y="3721100"/>
            <a:ext cx="43434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5100" y="6591300"/>
            <a:ext cx="7429500" cy="66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57300" y="7073900"/>
            <a:ext cx="9753600" cy="50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1257300" y="4330700"/>
            <a:ext cx="2242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segment에 숫자를 출력할수있도록 한다.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15405100" y="30099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3) 블럭도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 txBox="1"/>
          <p:nvPr/>
        </p:nvSpPr>
        <p:spPr>
          <a:xfrm>
            <a:off x="1257300" y="25654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03 BCD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4) schematic</a:t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3077" y="4129315"/>
            <a:ext cx="10049253" cy="524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1257300" y="2565400"/>
            <a:ext cx="5537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04 DECODER 2x4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기능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1257300" y="6362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2) 주요 코드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257300" y="12217400"/>
            <a:ext cx="224282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앞서 말한것 처럼 always 문 안에서 값을 넣어주기 위해 반드시 fnd_com는 reg타입으로 선언되어야한다.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또한 default 값를 꼭 설정하여 예상치 못하게 fnd_com이 x,z 값, latch 현상이 발생하지 않도록 주의한다 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257300" y="4330700"/>
            <a:ext cx="22428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입력 2비트 를 출력 4비트로 바꾸어준다.</a:t>
            </a:r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7073900"/>
            <a:ext cx="7531100" cy="50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23700" y="4330700"/>
            <a:ext cx="74295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1823700" y="34290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3) 블럭도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1257300" y="2565400"/>
            <a:ext cx="6362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04 DECODER 2x4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4) schematic</a:t>
            </a: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4317999"/>
            <a:ext cx="13563600" cy="666341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3"/>
          <p:cNvSpPr txBox="1"/>
          <p:nvPr/>
        </p:nvSpPr>
        <p:spPr>
          <a:xfrm>
            <a:off x="1257300" y="11633200"/>
            <a:ext cx="224282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원하는 자릿수에 0이 들어와야 점등된다.</a:t>
            </a:r>
            <a:endParaRPr b="0" i="0" sz="2933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 txBox="1"/>
          <p:nvPr/>
        </p:nvSpPr>
        <p:spPr>
          <a:xfrm>
            <a:off x="1257300" y="2565400"/>
            <a:ext cx="6362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</a:t>
            </a:r>
            <a:r>
              <a:rPr b="1" lang="en-US" sz="4900">
                <a:latin typeface="Nanum Gothic"/>
                <a:ea typeface="Nanum Gothic"/>
                <a:cs typeface="Nanum Gothic"/>
                <a:sym typeface="Nanum Gothic"/>
              </a:rPr>
              <a:t>5</a:t>
            </a:r>
            <a:r>
              <a:rPr b="1" i="0" lang="en-US" sz="49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 segment 동작원리</a:t>
            </a:r>
            <a:endParaRPr b="1" i="0" sz="4933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4">
            <a:alphaModFix/>
          </a:blip>
          <a:srcRect b="46693" l="-591" r="-187" t="648"/>
          <a:stretch/>
        </p:blipFill>
        <p:spPr>
          <a:xfrm>
            <a:off x="1298360" y="4147760"/>
            <a:ext cx="6749204" cy="4445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 rotWithShape="1">
          <a:blip r:embed="rId5">
            <a:alphaModFix/>
          </a:blip>
          <a:srcRect b="0" l="-285" r="8208" t="0"/>
          <a:stretch/>
        </p:blipFill>
        <p:spPr>
          <a:xfrm>
            <a:off x="1296689" y="8838493"/>
            <a:ext cx="10015683" cy="3895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파일:BJT PNP symbol (case).svg - 위키백과, 우리 모두의 백과사전" id="213" name="Google Shape;21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0380" y="4094944"/>
            <a:ext cx="2359479" cy="228373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1257300" y="3441700"/>
            <a:ext cx="3454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50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N자리 제어</a:t>
            </a:r>
            <a:endParaRPr b="1" i="0" sz="3950" u="none" cap="none" strike="noStrike">
              <a:solidFill>
                <a:srgbClr val="4D4D4D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11653274" y="4151390"/>
            <a:ext cx="11426372" cy="198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W4 : 1000자리, V4 : 100자리, U4: 10자리, U2: 1자리를 제어,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BJT(PNP형) 는 V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E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가 V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B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보다 높아야 E에서 C로 전류(I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)가 흐른다.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따라서 원하는 위치(W4,V4,U4,U2 中 1)에 0을 입력하면 전원이 켜진다.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>
            <a:off x="11653418" y="8791461"/>
            <a:ext cx="11426372" cy="198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fnd_com 신호는 각 자리수를 제어한다. case문을 사용하여 원하는 자리에 만 0값을 넣어서 자리의 전원을 제어한다.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1257300" y="2565400"/>
            <a:ext cx="63627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</a:t>
            </a:r>
            <a:r>
              <a:rPr b="1" lang="en-US" sz="4900">
                <a:latin typeface="Nanum Gothic"/>
                <a:ea typeface="Nanum Gothic"/>
                <a:cs typeface="Nanum Gothic"/>
                <a:sym typeface="Nanum Gothic"/>
              </a:rPr>
              <a:t>5</a:t>
            </a:r>
            <a:r>
              <a:rPr b="1" i="0" lang="en-US" sz="4900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 segment 동작원리</a:t>
            </a:r>
            <a:endParaRPr b="1" i="0" sz="4933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설계 및 구현 </a:t>
            </a:r>
            <a:endParaRPr/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4">
            <a:alphaModFix/>
          </a:blip>
          <a:srcRect b="383" l="0" r="-236" t="0"/>
          <a:stretch/>
        </p:blipFill>
        <p:spPr>
          <a:xfrm>
            <a:off x="1259358" y="4057812"/>
            <a:ext cx="5674211" cy="3481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1257300" y="3441700"/>
            <a:ext cx="5849257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30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50" u="none" cap="none" strike="noStrike">
                <a:solidFill>
                  <a:srgbClr val="4D4D4D"/>
                </a:solidFill>
                <a:latin typeface="Nanum Gothic"/>
                <a:ea typeface="Nanum Gothic"/>
                <a:cs typeface="Nanum Gothic"/>
                <a:sym typeface="Nanum Gothic"/>
              </a:rPr>
              <a:t>1) N자리의 7segment 제어</a:t>
            </a:r>
            <a:endParaRPr b="1" i="0" sz="3950" u="none" cap="none" strike="noStrike">
              <a:solidFill>
                <a:srgbClr val="4D4D4D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26" name="Google Shape;22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945" y="8212477"/>
            <a:ext cx="6361793" cy="4440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0179" y="8128274"/>
            <a:ext cx="5136242" cy="45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12856668" y="3571399"/>
            <a:ext cx="10526486" cy="198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Diode는 V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A 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&gt; V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C 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이면 A(+)에서 C(-)로 전류가 흐름 (I</a:t>
            </a:r>
            <a:r>
              <a:rPr b="0" baseline="-2500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R</a:t>
            </a: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은 차단)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따라서 그림과 같이 해당하는 알파벳에 0을 넣으면  원하는 위치에 </a:t>
            </a:r>
            <a:endParaRPr b="0" i="0" sz="2900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전원이 켜짐</a:t>
            </a:r>
            <a:endParaRPr b="0" i="0" sz="2900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2997" y="7808816"/>
            <a:ext cx="23050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다이오드입니다. 양극과 음극 기본 회로 기호의 스톡 벡터(로열티 프리) 2329402977 | Shutterstock" id="230" name="Google Shape;230;p25"/>
          <p:cNvPicPr preferRelativeResize="0"/>
          <p:nvPr/>
        </p:nvPicPr>
        <p:blipFill rotWithShape="1">
          <a:blip r:embed="rId7">
            <a:alphaModFix/>
          </a:blip>
          <a:srcRect b="31374" l="8187" r="7602" t="8067"/>
          <a:stretch/>
        </p:blipFill>
        <p:spPr>
          <a:xfrm>
            <a:off x="7604303" y="3956217"/>
            <a:ext cx="4581932" cy="347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12856812" y="8124471"/>
            <a:ext cx="9960429" cy="198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0~F (d:10)까지 segment 위치에 해당하는 0,1 값을 표로 정리하여 Case문으로 선언하였다. Alway문 안에서 case문을 선언할때 사용하지 않더라도 모든 케이스를 선언하여 Latch현상, 원하지않는(x,z)값을 방지한다.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동작영상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1257300" y="11620500"/>
            <a:ext cx="190881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1000/0000 + 0 = 0 1 2 8 동작 확인, 0 + 1000/0000 + 0 = 0 1 2 8 동작확인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1000/0000 + 1000/0000 = 0 0 0 0 과 C 점등 동작확인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기본값으로 1자리 R 버튼 / 10자리 L 버튼 /100자리 R+L 버튼 / 1000자리수를 나타내는 동작을 확인 하였다.</a:t>
            </a:r>
            <a:endParaRPr/>
          </a:p>
        </p:txBody>
      </p:sp>
      <p:pic>
        <p:nvPicPr>
          <p:cNvPr id="239" name="Google Shape;2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8855" y="2619699"/>
            <a:ext cx="15733486" cy="883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5900" y="2349500"/>
            <a:ext cx="23050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1257300" y="3429000"/>
            <a:ext cx="65278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01 결론</a:t>
            </a:r>
            <a:endParaRPr/>
          </a:p>
        </p:txBody>
      </p:sp>
      <p:sp>
        <p:nvSpPr>
          <p:cNvPr id="246" name="Google Shape;246;p27"/>
          <p:cNvSpPr txBox="1"/>
          <p:nvPr/>
        </p:nvSpPr>
        <p:spPr>
          <a:xfrm>
            <a:off x="1257300" y="927100"/>
            <a:ext cx="9144000" cy="12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825">
            <a:noAutofit/>
          </a:bodyPr>
          <a:lstStyle/>
          <a:p>
            <a:pPr indent="0" lvl="0" marL="0" marR="0" rtl="0" algn="l">
              <a:lnSpc>
                <a:spcPct val="1020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결론 및 고찰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1193800" y="4305300"/>
            <a:ext cx="2258060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Nanum Gothic"/>
              <a:buChar char="-"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adder_fnd 설계를 통해 7-segment(FND)의 동작 원리와 BCD 개념을 이해하고, 연산 결과를 실제 디스플레이 소자에  출력하는 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    과정을 경험하였다.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-  always문 선언 시 값을 할당 받는 데이터 타입을 reg로 선언되어야하는것을 이해 하였다.</a:t>
            </a:r>
            <a:endParaRPr/>
          </a:p>
          <a:p>
            <a:pPr indent="-457200" lvl="0" marL="45720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Nanum Gothic"/>
              <a:buChar char="-"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ALU 설계를 통해 연산 결과에 따라 선택적으로 값을 출력하는 MUX 구조와, 입력 신호를 자릿수별로 분리해 표시하는 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    DECODER 구조가 어떻게 결합되어 동작하는지 이해할 수 있었다.</a:t>
            </a:r>
            <a:endParaRPr/>
          </a:p>
        </p:txBody>
      </p:sp>
      <p:sp>
        <p:nvSpPr>
          <p:cNvPr id="248" name="Google Shape;248;p27"/>
          <p:cNvSpPr txBox="1"/>
          <p:nvPr/>
        </p:nvSpPr>
        <p:spPr>
          <a:xfrm>
            <a:off x="1257300" y="7962900"/>
            <a:ext cx="65278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050">
            <a:noAutofit/>
          </a:bodyPr>
          <a:lstStyle/>
          <a:p>
            <a:pPr indent="0" lvl="0" marL="0" marR="0" rtl="0" algn="l">
              <a:lnSpc>
                <a:spcPct val="109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02 고찰</a:t>
            </a:r>
            <a:endParaRPr/>
          </a:p>
        </p:txBody>
      </p:sp>
      <p:pic>
        <p:nvPicPr>
          <p:cNvPr id="249" name="Google Shape;2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7300" y="7416800"/>
            <a:ext cx="215773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7300" y="8839200"/>
            <a:ext cx="9956800" cy="18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1257300" y="10655300"/>
            <a:ext cx="18897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3" u="none" cap="none" strike="noStrik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rPr>
              <a:t>MUX 설계 과정에서 1000의 자리 수 실수가 있었으나 동작을 검증하던 중 1000의 자리수는 0만 나와야하는데 1이 뜨는것을 발견하였고, 반복적으로 다양한 값을 넣으며 검증한 결과 1000의 자리와 100의 자리의 값이 동일하게 나오는것을 알아내어 MUX 모듈을 수정함으로써 문제를 해결할 수 있었다.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