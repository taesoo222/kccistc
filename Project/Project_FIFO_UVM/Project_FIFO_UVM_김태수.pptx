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65" r:id="rId5"/>
    <p:sldId id="270" r:id="rId6"/>
    <p:sldId id="272" r:id="rId7"/>
    <p:sldId id="274" r:id="rId8"/>
    <p:sldId id="273" r:id="rId9"/>
    <p:sldId id="271" r:id="rId10"/>
    <p:sldId id="275" r:id="rId11"/>
    <p:sldId id="277" r:id="rId12"/>
    <p:sldId id="283" r:id="rId13"/>
    <p:sldId id="276" r:id="rId14"/>
    <p:sldId id="269" r:id="rId15"/>
    <p:sldId id="279" r:id="rId16"/>
    <p:sldId id="281" r:id="rId17"/>
    <p:sldId id="288" r:id="rId18"/>
    <p:sldId id="289" r:id="rId19"/>
    <p:sldId id="28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5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7A62-A5C0-E9AC-EE52-0F1E411F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F915D-D3ED-7AFE-A0B5-1D67887CC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D06CC-5ED6-9715-86CC-84789E23C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150FD-0A96-6C0B-C99A-98CF4E386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53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D169-6F3B-1DB8-0D46-C292D9FB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DEA35-DA47-78EF-94BF-FA3D420A8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D8BA2-9365-998A-E070-33EE21120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3C24-CEA1-21AF-C56D-62913E705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7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8DB92-2590-0826-9647-3205011B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F1A36-9C72-21C3-4969-C93830E6F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4CC5E-1AD2-E3B5-CACF-7D2F77F45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BA3AD-5588-56EF-BDBD-1404031AE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3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D68A-323B-55B7-3E4D-C8DD9146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F2FF7-BA10-0584-06B7-3C1F780CB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44A39-6DB3-BD5A-F431-8E86A2B50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14FA-9FA5-A05D-14F9-C08D7B763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79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B465-03A6-416D-DDD9-FBF32B6D1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63727-7EFC-D4F5-7560-C80419E2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92640-CE76-81BF-9CFD-72BA24A25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797E8-65A4-BE6B-8CB1-4C3813AE4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35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E02D1-0B0B-46A7-9FC8-0E9730E8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3D529-8A26-2712-DFEE-9BB549C76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E9A99-3D15-4B87-F473-94945BCC1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5C5BC-C984-B4C3-0299-798FEEC07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69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8E57-1849-FAC8-7192-53F17F88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54CB9-DAED-D17E-4BA6-3D5628F3D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DF870-A33A-8C8B-0783-5852A4489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CC743-D80C-7E27-8869-4F77724C3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24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A5E2-1BCE-9D8B-8C39-6166C754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1954B-D93A-3F7C-0E72-EE55CCF8D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6B044-4388-ADBA-8773-FCB38C54E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1D13F-EEFF-37E9-5FF5-487746E33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33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C945-A226-1B3A-DAEB-CE6D06B2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4883F-72BC-EB7F-90C4-47273B6D4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36BC5-38CD-EDEA-359E-FF60F7E3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82611-367B-7C46-DDD9-48C2C1711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37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1091-AC64-5C23-C850-12120616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2997D-15D5-059B-2762-0DA86435F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68DA5-3465-2AAD-F263-40B2E0F75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1DEDF-C958-3386-F65B-56B6836B4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53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90BB-1D68-2826-1ABD-B88122E4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F3E4A-2D18-B2A2-6462-358DE9FCC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7985B-7677-590B-F2A5-19F99047F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B0EA-2D07-2296-5D0B-1CC02B3C5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77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42F4-C42C-25AD-428B-E689CA8D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41E00-056E-8196-E6C8-A5D6EB877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97A5B-DA46-E732-CD04-29593FF7C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B3BA7-BF75-4BCC-2CCA-9EA6541D4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74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4D77-37A2-D827-2CEF-C739FF9D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B47E4-7AB1-615E-E583-E12A0F056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DC19C-FCE2-0204-BA57-691ADE3D7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76822-B944-4C78-10BF-CF3407D82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69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B2A8-D045-E57F-65C2-C1B88993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27DD1-C695-E7EB-2807-F57A0C7D3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78742-D8D5-5E16-AFD7-FD75BA035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12086-09F8-E086-BB92-C22C66AB0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70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A001-B78D-4D87-F0EE-4D4FF5DE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C44CF-5B08-4784-7F4E-29BD77B68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DD23B-875E-792C-5360-525F48696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AEA43-C06F-BE3D-59CF-CD2C3F9F9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2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90C5F-21AE-0768-609F-6F121B7F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8A733-077A-9149-EF9B-12188ED46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7976B-C5FD-021F-57A9-70D0F07DB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73818-E33B-0A35-AEE0-F52E24BAA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49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70B3-C48D-9B74-17FE-A7E2B80D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F010D-FC8C-E961-DF55-935D448C6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B35B1-334E-968E-9001-3DE1A4459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92FDD-4D62-D71B-CA7D-83F7DD061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3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latin typeface="Malgun Gothic" pitchFamily="34" charset="0"/>
                <a:ea typeface="Malgun Gothic" pitchFamily="34" charset="-122"/>
              </a:rPr>
              <a:t>2026/09/07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2514600"/>
            <a:ext cx="64008" cy="1417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23317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25893" y="6172200"/>
            <a:ext cx="251716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o-KR" alt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</a:t>
            </a:r>
            <a:r>
              <a:rPr lang="en-US" altLang="ko-KR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김태수</a:t>
            </a:r>
            <a:endParaRPr lang="en-US" sz="1600" b="1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CBB289F4-EEB3-45CE-A70F-00C300B9FF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7614900" y="11785600"/>
            <a:ext cx="5511800" cy="1028700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1EC4CC89-9988-E3D6-4739-D0C4B19C11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7767300" y="11938000"/>
            <a:ext cx="5511800" cy="1028700"/>
          </a:xfrm>
          <a:prstGeom prst="rect">
            <a:avLst/>
          </a:prstGeom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F73D98A9-9F28-6005-B77D-9B8DC94EB4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916989" y="196760"/>
            <a:ext cx="3770757" cy="703759"/>
          </a:xfrm>
          <a:prstGeom prst="rect">
            <a:avLst/>
          </a:prstGeom>
        </p:spPr>
      </p:pic>
      <p:sp>
        <p:nvSpPr>
          <p:cNvPr id="22" name="TextBox 5">
            <a:extLst>
              <a:ext uri="{FF2B5EF4-FFF2-40B4-BE49-F238E27FC236}">
                <a16:creationId xmlns:a16="http://schemas.microsoft.com/office/drawing/2014/main" id="{BE4AD3F2-B517-A6D8-6054-F208792214B7}"/>
              </a:ext>
            </a:extLst>
          </p:cNvPr>
          <p:cNvSpPr txBox="1"/>
          <p:nvPr/>
        </p:nvSpPr>
        <p:spPr>
          <a:xfrm>
            <a:off x="1115568" y="2514600"/>
            <a:ext cx="7287764" cy="1127468"/>
          </a:xfrm>
          <a:prstGeom prst="rect">
            <a:avLst/>
          </a:prstGeom>
        </p:spPr>
        <p:txBody>
          <a:bodyPr wrap="none" lIns="0" tIns="433494" rIns="0" bIns="0" rtlCol="0" anchor="t">
            <a:spAutoFit/>
          </a:bodyPr>
          <a:lstStyle/>
          <a:p>
            <a:pPr lvl="0" algn="l">
              <a:lnSpc>
                <a:spcPct val="83000"/>
              </a:lnSpc>
            </a:pPr>
            <a:r>
              <a:rPr lang="en-US" sz="5400" b="1" dirty="0">
                <a:solidFill>
                  <a:srgbClr val="000000"/>
                </a:solidFill>
                <a:latin typeface="+mj-ea"/>
                <a:ea typeface="+mj-ea"/>
                <a:cs typeface="Lexend Bold"/>
              </a:rPr>
              <a:t>FIFO UVM</a:t>
            </a:r>
            <a:r>
              <a:rPr lang="ko-KR" altLang="en-US" sz="5400" b="1" dirty="0">
                <a:solidFill>
                  <a:srgbClr val="000000"/>
                </a:solidFill>
                <a:latin typeface="+mj-ea"/>
                <a:ea typeface="+mj-ea"/>
                <a:cs typeface="Lexend Bold"/>
              </a:rPr>
              <a:t> </a:t>
            </a:r>
            <a:r>
              <a:rPr lang="en-US" altLang="ko-KR" sz="5400" b="1" dirty="0">
                <a:solidFill>
                  <a:srgbClr val="000000"/>
                </a:solidFill>
                <a:latin typeface="+mj-ea"/>
                <a:ea typeface="+mj-ea"/>
                <a:cs typeface="Lexend Bold"/>
              </a:rPr>
              <a:t>Verification</a:t>
            </a:r>
            <a:endParaRPr lang="en-US" sz="5400" b="1" i="0" u="none" strike="noStrike" dirty="0">
              <a:solidFill>
                <a:srgbClr val="000000"/>
              </a:solidFill>
              <a:latin typeface="+mj-ea"/>
              <a:ea typeface="+mj-ea"/>
              <a:cs typeface="Lexen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54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76909B9-59B2-05B8-4A38-DCD144E3F170}"/>
              </a:ext>
            </a:extLst>
          </p:cNvPr>
          <p:cNvGrpSpPr/>
          <p:nvPr/>
        </p:nvGrpSpPr>
        <p:grpSpPr>
          <a:xfrm>
            <a:off x="4692150" y="1666585"/>
            <a:ext cx="6624323" cy="608646"/>
            <a:chOff x="5018732" y="1271590"/>
            <a:chExt cx="6624323" cy="1014410"/>
          </a:xfrm>
        </p:grpSpPr>
        <p:sp>
          <p:nvSpPr>
            <p:cNvPr id="4" name="Text 2"/>
            <p:cNvSpPr/>
            <p:nvPr/>
          </p:nvSpPr>
          <p:spPr>
            <a:xfrm>
              <a:off x="5018732" y="1271590"/>
              <a:ext cx="5699455" cy="74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00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개요</a:t>
              </a:r>
              <a:endParaRPr lang="en-US" sz="3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728655" y="137160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600" b="1" dirty="0">
                  <a:solidFill>
                    <a:srgbClr val="B3B3B3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</a:t>
              </a:r>
              <a:endParaRPr lang="en-US" sz="2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029200" y="2286000"/>
              <a:ext cx="6613855" cy="0"/>
            </a:xfrm>
            <a:prstGeom prst="line">
              <a:avLst/>
            </a:prstGeom>
            <a:noFill/>
            <a:ln w="9525">
              <a:solidFill>
                <a:srgbClr val="E2E2E2"/>
              </a:solidFill>
              <a:prstDash val="solid"/>
            </a:ln>
          </p:spPr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637D298-7171-8530-91C6-E5BFD7F9D90D}"/>
              </a:ext>
            </a:extLst>
          </p:cNvPr>
          <p:cNvGrpSpPr/>
          <p:nvPr/>
        </p:nvGrpSpPr>
        <p:grpSpPr>
          <a:xfrm>
            <a:off x="4692150" y="2636381"/>
            <a:ext cx="6624323" cy="608646"/>
            <a:chOff x="5018732" y="1271590"/>
            <a:chExt cx="6624323" cy="1014410"/>
          </a:xfrm>
        </p:grpSpPr>
        <p:sp>
          <p:nvSpPr>
            <p:cNvPr id="35" name="Text 2">
              <a:extLst>
                <a:ext uri="{FF2B5EF4-FFF2-40B4-BE49-F238E27FC236}">
                  <a16:creationId xmlns:a16="http://schemas.microsoft.com/office/drawing/2014/main" id="{FAA2EA01-171F-B52E-8118-19F8BA1328E7}"/>
                </a:ext>
              </a:extLst>
            </p:cNvPr>
            <p:cNvSpPr/>
            <p:nvPr/>
          </p:nvSpPr>
          <p:spPr>
            <a:xfrm>
              <a:off x="5018732" y="1271590"/>
              <a:ext cx="5699455" cy="74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000000"/>
                  </a:solidFill>
                  <a:latin typeface="Malgun Gothic" pitchFamily="34" charset="0"/>
                  <a:ea typeface="Malgun Gothic" pitchFamily="34" charset="-122"/>
                </a:rPr>
                <a:t>검증 설계</a:t>
              </a:r>
              <a:endParaRPr lang="en-US" sz="3200" dirty="0"/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7AFA2479-1737-2231-8FE6-FDA0933FFC12}"/>
                </a:ext>
              </a:extLst>
            </p:cNvPr>
            <p:cNvSpPr/>
            <p:nvPr/>
          </p:nvSpPr>
          <p:spPr>
            <a:xfrm>
              <a:off x="10728655" y="137160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600" b="1" dirty="0">
                  <a:solidFill>
                    <a:srgbClr val="B3B3B3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02</a:t>
              </a:r>
              <a:endParaRPr lang="en-US" sz="2600" dirty="0"/>
            </a:p>
          </p:txBody>
        </p:sp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2BCD9CC5-47BE-3874-4F97-CC81378C304C}"/>
                </a:ext>
              </a:extLst>
            </p:cNvPr>
            <p:cNvSpPr/>
            <p:nvPr/>
          </p:nvSpPr>
          <p:spPr>
            <a:xfrm>
              <a:off x="5029200" y="2286000"/>
              <a:ext cx="6613855" cy="0"/>
            </a:xfrm>
            <a:prstGeom prst="line">
              <a:avLst/>
            </a:prstGeom>
            <a:noFill/>
            <a:ln w="9525">
              <a:solidFill>
                <a:srgbClr val="E2E2E2"/>
              </a:solidFill>
              <a:prstDash val="solid"/>
            </a:ln>
          </p:spPr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83E4ABC-1F54-3BE9-6870-817A8E2A2F6B}"/>
              </a:ext>
            </a:extLst>
          </p:cNvPr>
          <p:cNvGrpSpPr/>
          <p:nvPr/>
        </p:nvGrpSpPr>
        <p:grpSpPr>
          <a:xfrm>
            <a:off x="4692150" y="3606177"/>
            <a:ext cx="6624323" cy="608646"/>
            <a:chOff x="5018732" y="1271590"/>
            <a:chExt cx="6624323" cy="1014410"/>
          </a:xfrm>
        </p:grpSpPr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1D5159EB-20F7-1B3A-D17C-98942CF915CF}"/>
                </a:ext>
              </a:extLst>
            </p:cNvPr>
            <p:cNvSpPr/>
            <p:nvPr/>
          </p:nvSpPr>
          <p:spPr>
            <a:xfrm>
              <a:off x="5018732" y="1271590"/>
              <a:ext cx="5699455" cy="74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/>
                <a:t>검증 결과</a:t>
              </a:r>
              <a:endParaRPr lang="en-US" sz="3200" b="1" dirty="0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FADEEE6F-9B1C-823D-3B00-9EC2E7144F9D}"/>
                </a:ext>
              </a:extLst>
            </p:cNvPr>
            <p:cNvSpPr/>
            <p:nvPr/>
          </p:nvSpPr>
          <p:spPr>
            <a:xfrm>
              <a:off x="10728655" y="137160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600" b="1" dirty="0">
                  <a:solidFill>
                    <a:srgbClr val="B3B3B3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03</a:t>
              </a:r>
              <a:endParaRPr lang="en-US" sz="2600" dirty="0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DDA44A35-0244-6F86-0B29-7BD3CC01FBE7}"/>
                </a:ext>
              </a:extLst>
            </p:cNvPr>
            <p:cNvSpPr/>
            <p:nvPr/>
          </p:nvSpPr>
          <p:spPr>
            <a:xfrm>
              <a:off x="5029200" y="2286000"/>
              <a:ext cx="6613855" cy="0"/>
            </a:xfrm>
            <a:prstGeom prst="line">
              <a:avLst/>
            </a:prstGeom>
            <a:noFill/>
            <a:ln w="9525">
              <a:solidFill>
                <a:srgbClr val="E2E2E2"/>
              </a:solidFill>
              <a:prstDash val="solid"/>
            </a:ln>
          </p:spPr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5B84163-CFB7-CE76-0374-9CAE117F61AF}"/>
              </a:ext>
            </a:extLst>
          </p:cNvPr>
          <p:cNvGrpSpPr/>
          <p:nvPr/>
        </p:nvGrpSpPr>
        <p:grpSpPr>
          <a:xfrm>
            <a:off x="4692150" y="4575973"/>
            <a:ext cx="6624323" cy="608646"/>
            <a:chOff x="5018732" y="1271590"/>
            <a:chExt cx="6624323" cy="1014410"/>
          </a:xfrm>
        </p:grpSpPr>
        <p:sp>
          <p:nvSpPr>
            <p:cNvPr id="47" name="Text 2">
              <a:extLst>
                <a:ext uri="{FF2B5EF4-FFF2-40B4-BE49-F238E27FC236}">
                  <a16:creationId xmlns:a16="http://schemas.microsoft.com/office/drawing/2014/main" id="{1186478D-899F-EF5F-F96A-F85F6FEABECF}"/>
                </a:ext>
              </a:extLst>
            </p:cNvPr>
            <p:cNvSpPr/>
            <p:nvPr/>
          </p:nvSpPr>
          <p:spPr>
            <a:xfrm>
              <a:off x="5018732" y="1271590"/>
              <a:ext cx="5699455" cy="74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/>
                <a:t>트러블 슈팅</a:t>
              </a:r>
              <a:endParaRPr lang="en-US" sz="3200" b="1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40A7FB5-B500-234E-C841-ED00749D4D3D}"/>
                </a:ext>
              </a:extLst>
            </p:cNvPr>
            <p:cNvSpPr/>
            <p:nvPr/>
          </p:nvSpPr>
          <p:spPr>
            <a:xfrm>
              <a:off x="10728655" y="137160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600" b="1" dirty="0">
                  <a:solidFill>
                    <a:srgbClr val="B3B3B3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04</a:t>
              </a:r>
              <a:endParaRPr lang="en-US" sz="2600" dirty="0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392292F4-4994-15A2-A88D-54FB82FDBFA5}"/>
                </a:ext>
              </a:extLst>
            </p:cNvPr>
            <p:cNvSpPr/>
            <p:nvPr/>
          </p:nvSpPr>
          <p:spPr>
            <a:xfrm>
              <a:off x="5029200" y="2286000"/>
              <a:ext cx="6613855" cy="0"/>
            </a:xfrm>
            <a:prstGeom prst="line">
              <a:avLst/>
            </a:prstGeom>
            <a:noFill/>
            <a:ln w="9525">
              <a:solidFill>
                <a:srgbClr val="E2E2E2"/>
              </a:solidFill>
              <a:prstDash val="solid"/>
            </a:ln>
          </p:spPr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658AFA3-8536-C23F-AAB6-A8595E4D1539}"/>
              </a:ext>
            </a:extLst>
          </p:cNvPr>
          <p:cNvGrpSpPr/>
          <p:nvPr/>
        </p:nvGrpSpPr>
        <p:grpSpPr>
          <a:xfrm>
            <a:off x="4692150" y="5545768"/>
            <a:ext cx="6624323" cy="608646"/>
            <a:chOff x="5018732" y="1271590"/>
            <a:chExt cx="6624323" cy="1014410"/>
          </a:xfrm>
        </p:grpSpPr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146B8D93-6EDE-EC64-BE8C-C476849111BD}"/>
                </a:ext>
              </a:extLst>
            </p:cNvPr>
            <p:cNvSpPr/>
            <p:nvPr/>
          </p:nvSpPr>
          <p:spPr>
            <a:xfrm>
              <a:off x="5018732" y="1271590"/>
              <a:ext cx="5699455" cy="74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/>
                <a:t>결론 및 고찰</a:t>
              </a:r>
              <a:endParaRPr lang="en-US" sz="3200" b="1" dirty="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40FA865F-8A53-1844-2219-93527D048A86}"/>
                </a:ext>
              </a:extLst>
            </p:cNvPr>
            <p:cNvSpPr/>
            <p:nvPr/>
          </p:nvSpPr>
          <p:spPr>
            <a:xfrm>
              <a:off x="10728655" y="1371600"/>
              <a:ext cx="914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600" b="1" dirty="0">
                  <a:solidFill>
                    <a:srgbClr val="B3B3B3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05</a:t>
              </a:r>
              <a:endParaRPr lang="en-US" sz="2600" dirty="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B627A43-778F-41ED-1639-590102580AEB}"/>
                </a:ext>
              </a:extLst>
            </p:cNvPr>
            <p:cNvSpPr/>
            <p:nvPr/>
          </p:nvSpPr>
          <p:spPr>
            <a:xfrm>
              <a:off x="5029200" y="2286000"/>
              <a:ext cx="6613855" cy="0"/>
            </a:xfrm>
            <a:prstGeom prst="line">
              <a:avLst/>
            </a:prstGeom>
            <a:noFill/>
            <a:ln w="9525">
              <a:solidFill>
                <a:srgbClr val="E2E2E2"/>
              </a:solidFill>
              <a:prstDash val="solid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09707-768B-EBD8-3B79-3A3915FC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EEB8BF-C366-04BF-1415-5210C012A2F6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C9070F-BEA8-244A-6C14-EC173F8EBB55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01. </a:t>
            </a:r>
            <a:r>
              <a:rPr lang="ko-KR" altLang="en-US" sz="2000" b="1" dirty="0">
                <a:latin typeface="+mj-ea"/>
                <a:ea typeface="+mj-ea"/>
              </a:rPr>
              <a:t>개요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129CBB-DA4F-8EF2-CF79-4D5485E4E1DD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0DF898D-22AF-F7BB-0DD3-6DC67CB17692}"/>
              </a:ext>
            </a:extLst>
          </p:cNvPr>
          <p:cNvSpPr/>
          <p:nvPr/>
        </p:nvSpPr>
        <p:spPr>
          <a:xfrm>
            <a:off x="-352425" y="1428452"/>
            <a:ext cx="3581109" cy="18466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목표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+mj-ea"/>
                <a:ea typeface="+mj-ea"/>
              </a:rPr>
              <a:t>FIFO UVM 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검증 </a:t>
            </a:r>
            <a:endParaRPr lang="en-US" altLang="ko-KR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</a:p>
          <a:p>
            <a:r>
              <a:rPr lang="en-US" sz="2000" b="1" dirty="0">
                <a:latin typeface="+mj-ea"/>
                <a:ea typeface="+mj-ea"/>
              </a:rPr>
              <a:t>	1) FIFO</a:t>
            </a:r>
            <a:endParaRPr lang="en-US" altLang="ko-KR" sz="2000" b="1" dirty="0">
              <a:latin typeface="+mj-ea"/>
              <a:ea typeface="+mj-ea"/>
            </a:endParaRPr>
          </a:p>
          <a:p>
            <a:endParaRPr lang="en-US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2) UVM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</a:p>
          <a:p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3A4B6-0655-4B58-55AA-EF4D506CF6AB}"/>
              </a:ext>
            </a:extLst>
          </p:cNvPr>
          <p:cNvSpPr txBox="1"/>
          <p:nvPr/>
        </p:nvSpPr>
        <p:spPr>
          <a:xfrm>
            <a:off x="2954591" y="1890088"/>
            <a:ext cx="9585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latin typeface="+mn-ea"/>
                <a:cs typeface="Calibri"/>
              </a:rPr>
              <a:t>FIFO</a:t>
            </a:r>
            <a:r>
              <a:rPr lang="ko-KR" altLang="en-US" sz="1800" b="1" dirty="0">
                <a:latin typeface="+mn-ea"/>
                <a:cs typeface="Calibri"/>
              </a:rPr>
              <a:t>의 데이터 및 </a:t>
            </a:r>
            <a:r>
              <a:rPr lang="en-US" altLang="ko-KR" sz="1800" b="1" dirty="0">
                <a:latin typeface="+mn-ea"/>
                <a:cs typeface="Calibri"/>
              </a:rPr>
              <a:t>Full / Empty </a:t>
            </a:r>
            <a:r>
              <a:rPr lang="ko-KR" altLang="en-US" sz="1800" b="1" dirty="0">
                <a:latin typeface="+mn-ea"/>
                <a:cs typeface="Calibri"/>
              </a:rPr>
              <a:t>경계 조건을 </a:t>
            </a:r>
            <a:r>
              <a:rPr lang="en-US" altLang="ko-KR" sz="1800" b="1" dirty="0">
                <a:latin typeface="+mn-ea"/>
                <a:cs typeface="Calibri"/>
              </a:rPr>
              <a:t>UVM </a:t>
            </a:r>
            <a:r>
              <a:rPr lang="ko-KR" altLang="en-US" sz="1800" b="1" dirty="0">
                <a:latin typeface="+mn-ea"/>
                <a:cs typeface="Calibri"/>
              </a:rPr>
              <a:t>환경에서 검증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4BDC7FC4-F459-8E24-4196-9910248BF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52803"/>
              </p:ext>
            </p:extLst>
          </p:nvPr>
        </p:nvGraphicFramePr>
        <p:xfrm>
          <a:off x="5331089" y="2841706"/>
          <a:ext cx="5764803" cy="2553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5051">
                  <a:extLst>
                    <a:ext uri="{9D8B030D-6E8A-4147-A177-3AD203B41FA5}">
                      <a16:colId xmlns:a16="http://schemas.microsoft.com/office/drawing/2014/main" val="2157132368"/>
                    </a:ext>
                  </a:extLst>
                </a:gridCol>
                <a:gridCol w="5299752">
                  <a:extLst>
                    <a:ext uri="{9D8B030D-6E8A-4147-A177-3AD203B41FA5}">
                      <a16:colId xmlns:a16="http://schemas.microsoft.com/office/drawing/2014/main" val="214469474"/>
                    </a:ext>
                  </a:extLst>
                </a:gridCol>
              </a:tblGrid>
              <a:tr h="510692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검증 목표</a:t>
                      </a: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0415"/>
                  </a:ext>
                </a:extLst>
              </a:tr>
              <a:tr h="510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Full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상태에서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Push </a:t>
                      </a:r>
                      <a:r>
                        <a:rPr lang="ko-KR" altLang="en-US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무시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확인</a:t>
                      </a:r>
                      <a:endParaRPr lang="en-US" altLang="ko-KR" sz="1600" dirty="0">
                        <a:latin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503524"/>
                  </a:ext>
                </a:extLst>
              </a:tr>
              <a:tr h="510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Empty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상태에서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Pop </a:t>
                      </a:r>
                      <a:r>
                        <a:rPr lang="ko-KR" altLang="en-US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무시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확인</a:t>
                      </a:r>
                      <a:endParaRPr lang="en-US" altLang="ko-KR" sz="1600" dirty="0">
                        <a:latin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50354"/>
                  </a:ext>
                </a:extLst>
              </a:tr>
              <a:tr h="510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3)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Push / Pop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동시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동작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확인</a:t>
                      </a:r>
                      <a:endParaRPr lang="en-US" altLang="ko-KR" sz="1600" dirty="0">
                        <a:latin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554204"/>
                  </a:ext>
                </a:extLst>
              </a:tr>
              <a:tr h="5106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4)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Scoreboard와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Coverage로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결과</a:t>
                      </a:r>
                      <a:r>
                        <a:rPr lang="en-US" altLang="ko-KR" sz="1600" dirty="0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rgbClr val="101828"/>
                          </a:solidFill>
                          <a:latin typeface="+mn-ea"/>
                          <a:cs typeface="Noto Sans CJK KR" pitchFamily="34" charset="-120"/>
                        </a:rPr>
                        <a:t>확인</a:t>
                      </a:r>
                      <a:endParaRPr lang="en-US" altLang="ko-KR" sz="1600" dirty="0">
                        <a:latin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29615"/>
                  </a:ext>
                </a:extLst>
              </a:tr>
            </a:tbl>
          </a:graphicData>
        </a:graphic>
      </p:graphicFrame>
      <p:pic>
        <p:nvPicPr>
          <p:cNvPr id="33" name="그림 32">
            <a:extLst>
              <a:ext uri="{FF2B5EF4-FFF2-40B4-BE49-F238E27FC236}">
                <a16:creationId xmlns:a16="http://schemas.microsoft.com/office/drawing/2014/main" id="{65D3F1F8-DE9A-32A2-9E8B-15475DAB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14" y="2687013"/>
            <a:ext cx="3037339" cy="281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57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4AB4-DF3C-E3E6-EB1B-B8A1ACE2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663FCB-BF46-5DC5-98A7-649B23024AAE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AE9206-53F0-1364-18ED-F39FB0CF1AF4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01. </a:t>
            </a:r>
            <a:r>
              <a:rPr lang="ko-KR" altLang="en-US" sz="2000" b="1" dirty="0">
                <a:latin typeface="+mj-ea"/>
                <a:ea typeface="+mj-ea"/>
              </a:rPr>
              <a:t>개요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9B7689-BDE9-F29E-B9B0-81CAED9A5A1B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50715AD-F83B-FAD0-1DAF-74909A5F9435}"/>
              </a:ext>
            </a:extLst>
          </p:cNvPr>
          <p:cNvSpPr/>
          <p:nvPr/>
        </p:nvSpPr>
        <p:spPr>
          <a:xfrm>
            <a:off x="-352425" y="1428452"/>
            <a:ext cx="3581109" cy="18466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ko-KR" altLang="en-US" sz="2000" b="1" dirty="0">
                <a:latin typeface="+mj-ea"/>
                <a:ea typeface="+mj-ea"/>
              </a:rPr>
              <a:t>목표 </a:t>
            </a:r>
            <a:r>
              <a:rPr lang="en-US" altLang="ko-KR" sz="2000" b="1" dirty="0">
                <a:latin typeface="+mj-ea"/>
                <a:ea typeface="+mj-ea"/>
              </a:rPr>
              <a:t>: </a:t>
            </a:r>
            <a:r>
              <a:rPr lang="en-US" sz="2000" b="1" dirty="0">
                <a:latin typeface="+mj-ea"/>
                <a:ea typeface="+mj-ea"/>
              </a:rPr>
              <a:t>FIFO UVM </a:t>
            </a:r>
            <a:r>
              <a:rPr lang="ko-KR" altLang="en-US" sz="2000" b="1" dirty="0">
                <a:latin typeface="+mj-ea"/>
                <a:ea typeface="+mj-ea"/>
              </a:rPr>
              <a:t>검증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+mj-ea"/>
                <a:ea typeface="+mj-ea"/>
              </a:rPr>
              <a:t>1) FIFO</a:t>
            </a:r>
            <a:endParaRPr lang="en-US" altLang="ko-KR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en-US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2) UVM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</a:p>
          <a:p>
            <a:endParaRPr lang="en-US" sz="2000" b="1" dirty="0">
              <a:latin typeface="+mj-ea"/>
              <a:ea typeface="+mj-ea"/>
            </a:endParaRP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759AB367-5D8D-23A1-8AD5-28C3E9203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02D587-1BFD-EA9C-7DF5-0AA41B9A5B9C}"/>
              </a:ext>
            </a:extLst>
          </p:cNvPr>
          <p:cNvSpPr txBox="1"/>
          <p:nvPr/>
        </p:nvSpPr>
        <p:spPr>
          <a:xfrm>
            <a:off x="4407408" y="1370140"/>
            <a:ext cx="238225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</a:rPr>
              <a:t>Synchronous FIFO</a:t>
            </a:r>
          </a:p>
          <a:p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First In First out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F9203B-A0F7-AA9C-1253-381881907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188" y="2242493"/>
            <a:ext cx="2877824" cy="39074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81E4B76-7751-207E-1212-DD3E8B59F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176" y="2085153"/>
            <a:ext cx="5307257" cy="14815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0E633A-5CC7-4AB8-98A9-B46D468378FF}"/>
              </a:ext>
            </a:extLst>
          </p:cNvPr>
          <p:cNvSpPr txBox="1"/>
          <p:nvPr/>
        </p:nvSpPr>
        <p:spPr>
          <a:xfrm>
            <a:off x="7194569" y="3566720"/>
            <a:ext cx="3787127" cy="2802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latin typeface="+mj-ea"/>
                <a:ea typeface="+mj-ea"/>
              </a:rPr>
              <a:t>wptr</a:t>
            </a:r>
            <a:r>
              <a:rPr lang="en-US" altLang="ko-KR" sz="2000" b="1" dirty="0">
                <a:latin typeface="+mj-ea"/>
                <a:ea typeface="+mj-ea"/>
              </a:rPr>
              <a:t>  :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register file write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위치</a:t>
            </a:r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latin typeface="+mj-ea"/>
                <a:ea typeface="+mj-ea"/>
              </a:rPr>
              <a:t>rptr</a:t>
            </a:r>
            <a:r>
              <a:rPr lang="en-US" altLang="ko-KR" sz="2000" b="1" dirty="0">
                <a:latin typeface="+mj-ea"/>
                <a:ea typeface="+mj-ea"/>
              </a:rPr>
              <a:t>   :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register file write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위치</a:t>
            </a:r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latin typeface="+mj-ea"/>
                <a:ea typeface="+mj-ea"/>
              </a:rPr>
              <a:t>rdata</a:t>
            </a:r>
            <a:r>
              <a:rPr lang="en-US" altLang="ko-KR" sz="2000" b="1" dirty="0">
                <a:latin typeface="+mj-ea"/>
                <a:ea typeface="+mj-ea"/>
              </a:rPr>
              <a:t> :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pop = 1 &amp; empty = 0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j-ea"/>
                <a:ea typeface="+mj-ea"/>
              </a:rPr>
              <a:t>push / pop 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  <a:r>
              <a:rPr lang="en-US" altLang="ko-KR" sz="2000" b="1" dirty="0">
                <a:latin typeface="+mj-ea"/>
                <a:ea typeface="+mj-ea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j-ea"/>
                <a:ea typeface="+mj-ea"/>
              </a:rPr>
              <a:t>   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full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=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→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push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무시</a:t>
            </a:r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empty = 1 </a:t>
            </a:r>
            <a:r>
              <a:rPr lang="ko-KR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→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 pop 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무시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91329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67E5-E647-909A-1AB8-34067AFE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840AAF-2174-059D-7AF4-41EDD3FF373F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C4B780-3440-629B-20BF-BECBFFB87460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01. </a:t>
            </a:r>
            <a:r>
              <a:rPr lang="ko-KR" altLang="en-US" sz="2000" b="1" dirty="0">
                <a:latin typeface="+mj-ea"/>
                <a:ea typeface="+mj-ea"/>
              </a:rPr>
              <a:t>개요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568DF6-C145-69B1-1895-5B16D37C49A2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5F6F685-06BF-613A-845F-1FFEFFADA1D2}"/>
              </a:ext>
            </a:extLst>
          </p:cNvPr>
          <p:cNvSpPr/>
          <p:nvPr/>
        </p:nvSpPr>
        <p:spPr>
          <a:xfrm>
            <a:off x="-352425" y="1428452"/>
            <a:ext cx="3581109" cy="18466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ko-KR" altLang="en-US" sz="2000" b="1" dirty="0">
                <a:latin typeface="+mj-ea"/>
                <a:ea typeface="+mj-ea"/>
              </a:rPr>
              <a:t>목표 </a:t>
            </a:r>
            <a:r>
              <a:rPr lang="en-US" altLang="ko-KR" sz="2000" b="1" dirty="0">
                <a:latin typeface="+mj-ea"/>
                <a:ea typeface="+mj-ea"/>
              </a:rPr>
              <a:t>: </a:t>
            </a:r>
            <a:r>
              <a:rPr lang="en-US" sz="2000" b="1" dirty="0">
                <a:latin typeface="+mj-ea"/>
                <a:ea typeface="+mj-ea"/>
              </a:rPr>
              <a:t>FIFO UVM </a:t>
            </a:r>
            <a:r>
              <a:rPr lang="ko-KR" altLang="en-US" sz="2000" b="1" dirty="0">
                <a:latin typeface="+mj-ea"/>
                <a:ea typeface="+mj-ea"/>
              </a:rPr>
              <a:t>검증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</a:p>
          <a:p>
            <a:r>
              <a:rPr lang="en-US" sz="2000" b="1" dirty="0">
                <a:latin typeface="+mj-ea"/>
                <a:ea typeface="+mj-ea"/>
              </a:rPr>
              <a:t>	1) FIFO</a:t>
            </a:r>
            <a:endParaRPr lang="en-US" altLang="ko-KR" sz="2000" b="1" dirty="0">
              <a:latin typeface="+mj-ea"/>
              <a:ea typeface="+mj-ea"/>
            </a:endParaRPr>
          </a:p>
          <a:p>
            <a:endParaRPr lang="en-US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+mj-ea"/>
                <a:ea typeface="+mj-ea"/>
              </a:rPr>
              <a:t>2) UVM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  <a:p>
            <a:endParaRPr lang="en-US" sz="2000" b="1" dirty="0">
              <a:latin typeface="+mj-ea"/>
              <a:ea typeface="+mj-ea"/>
            </a:endParaRP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1E66CDF1-F7BF-7EE3-D084-3CD2FEC93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DEB687-91D9-C457-84FC-76E6726915E6}"/>
              </a:ext>
            </a:extLst>
          </p:cNvPr>
          <p:cNvSpPr txBox="1"/>
          <p:nvPr/>
        </p:nvSpPr>
        <p:spPr>
          <a:xfrm>
            <a:off x="4407408" y="1370140"/>
            <a:ext cx="51528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UVM </a:t>
            </a:r>
            <a:r>
              <a:rPr lang="en-US" altLang="ko-KR" sz="2000" dirty="0">
                <a:latin typeface="+mj-ea"/>
                <a:ea typeface="+mj-ea"/>
              </a:rPr>
              <a:t>(</a:t>
            </a:r>
            <a:r>
              <a:rPr lang="ko-KR" altLang="ko-KR" sz="2000" dirty="0">
                <a:latin typeface="+mj-ea"/>
                <a:ea typeface="+mj-ea"/>
              </a:rPr>
              <a:t>Universal </a:t>
            </a:r>
            <a:r>
              <a:rPr lang="ko-KR" altLang="ko-KR" sz="2000" dirty="0" err="1">
                <a:latin typeface="+mj-ea"/>
                <a:ea typeface="+mj-ea"/>
              </a:rPr>
              <a:t>Verification</a:t>
            </a:r>
            <a:r>
              <a:rPr lang="ko-KR" altLang="ko-KR" sz="2000" dirty="0">
                <a:latin typeface="+mj-ea"/>
                <a:ea typeface="+mj-ea"/>
              </a:rPr>
              <a:t> </a:t>
            </a:r>
            <a:r>
              <a:rPr lang="ko-KR" altLang="ko-KR" sz="2000" dirty="0" err="1">
                <a:latin typeface="+mj-ea"/>
                <a:ea typeface="+mj-ea"/>
              </a:rPr>
              <a:t>Methodology</a:t>
            </a:r>
            <a:r>
              <a:rPr lang="en-US" altLang="ko-KR" sz="2000" dirty="0">
                <a:latin typeface="+mj-ea"/>
                <a:ea typeface="+mj-ea"/>
              </a:rPr>
              <a:t>)</a:t>
            </a:r>
            <a:endParaRPr lang="ko-KR" altLang="en-US" sz="20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A6EEFA7-0EBF-80E5-F769-A29066B6DE2D}"/>
              </a:ext>
            </a:extLst>
          </p:cNvPr>
          <p:cNvGrpSpPr/>
          <p:nvPr/>
        </p:nvGrpSpPr>
        <p:grpSpPr>
          <a:xfrm>
            <a:off x="4054491" y="2229531"/>
            <a:ext cx="5178103" cy="4412042"/>
            <a:chOff x="4042097" y="1801203"/>
            <a:chExt cx="5521003" cy="479110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FDAADC7-88A9-D9EA-10A4-7E8F68A45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2097" y="1801203"/>
              <a:ext cx="5521003" cy="4791108"/>
            </a:xfrm>
            <a:prstGeom prst="rect">
              <a:avLst/>
            </a:prstGeom>
          </p:spPr>
        </p:pic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70601C27-844A-5282-35F9-8D5D54336769}"/>
                </a:ext>
              </a:extLst>
            </p:cNvPr>
            <p:cNvSpPr/>
            <p:nvPr/>
          </p:nvSpPr>
          <p:spPr>
            <a:xfrm>
              <a:off x="5940440" y="3814608"/>
              <a:ext cx="676275" cy="1928968"/>
            </a:xfrm>
            <a:prstGeom prst="downArrow">
              <a:avLst/>
            </a:prstGeom>
            <a:solidFill>
              <a:srgbClr val="00206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아래쪽 9">
              <a:extLst>
                <a:ext uri="{FF2B5EF4-FFF2-40B4-BE49-F238E27FC236}">
                  <a16:creationId xmlns:a16="http://schemas.microsoft.com/office/drawing/2014/main" id="{44E5C86F-6204-5604-1290-8056E9E728DA}"/>
                </a:ext>
              </a:extLst>
            </p:cNvPr>
            <p:cNvSpPr/>
            <p:nvPr/>
          </p:nvSpPr>
          <p:spPr>
            <a:xfrm rot="10800000">
              <a:off x="7430127" y="2576945"/>
              <a:ext cx="676275" cy="3092740"/>
            </a:xfrm>
            <a:prstGeom prst="downArrow">
              <a:avLst/>
            </a:prstGeom>
            <a:solidFill>
              <a:schemeClr val="accent6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5" name="빼기 기호 14">
            <a:extLst>
              <a:ext uri="{FF2B5EF4-FFF2-40B4-BE49-F238E27FC236}">
                <a16:creationId xmlns:a16="http://schemas.microsoft.com/office/drawing/2014/main" id="{F60300B4-DA33-D526-AA4E-339E593177A3}"/>
              </a:ext>
            </a:extLst>
          </p:cNvPr>
          <p:cNvSpPr/>
          <p:nvPr/>
        </p:nvSpPr>
        <p:spPr>
          <a:xfrm>
            <a:off x="9220200" y="2003077"/>
            <a:ext cx="880088" cy="865764"/>
          </a:xfrm>
          <a:prstGeom prst="mathMinus">
            <a:avLst/>
          </a:prstGeom>
          <a:solidFill>
            <a:srgbClr val="00206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빼기 기호 16">
            <a:extLst>
              <a:ext uri="{FF2B5EF4-FFF2-40B4-BE49-F238E27FC236}">
                <a16:creationId xmlns:a16="http://schemas.microsoft.com/office/drawing/2014/main" id="{EEB93F3B-448A-D7A6-B634-DFCC512E9088}"/>
              </a:ext>
            </a:extLst>
          </p:cNvPr>
          <p:cNvSpPr/>
          <p:nvPr/>
        </p:nvSpPr>
        <p:spPr>
          <a:xfrm>
            <a:off x="9232594" y="2384196"/>
            <a:ext cx="851513" cy="865764"/>
          </a:xfrm>
          <a:prstGeom prst="mathMinus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633355-22DD-8CA1-BBB0-10B8B294AA54}"/>
              </a:ext>
            </a:extLst>
          </p:cNvPr>
          <p:cNvSpPr txBox="1"/>
          <p:nvPr/>
        </p:nvSpPr>
        <p:spPr>
          <a:xfrm>
            <a:off x="9979680" y="2280356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  <a:latin typeface="+mj-ea"/>
                <a:ea typeface="+mj-ea"/>
              </a:rPr>
              <a:t>구동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BE0B24-1BA5-3D91-03ED-42EF2FDCCC7D}"/>
              </a:ext>
            </a:extLst>
          </p:cNvPr>
          <p:cNvSpPr txBox="1"/>
          <p:nvPr/>
        </p:nvSpPr>
        <p:spPr>
          <a:xfrm>
            <a:off x="9979679" y="2663189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CEDAAF-41C2-93D3-5B49-6F51497F139D}"/>
              </a:ext>
            </a:extLst>
          </p:cNvPr>
          <p:cNvSpPr txBox="1"/>
          <p:nvPr/>
        </p:nvSpPr>
        <p:spPr>
          <a:xfrm>
            <a:off x="4407408" y="1702219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재사용성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표준화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캡슐화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03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8F0E-0B4F-D32C-DD11-EEB31ECCB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D382F6-0854-0D24-D413-3F36F9E0BC1B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2C2749-1808-6F66-F99B-3B693E3816E5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01. </a:t>
            </a:r>
            <a:r>
              <a:rPr lang="ko-KR" altLang="en-US" sz="2000" b="1" dirty="0">
                <a:latin typeface="+mj-ea"/>
                <a:ea typeface="+mj-ea"/>
              </a:rPr>
              <a:t>개요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9A5079-9664-38E5-19B8-B24B04DEF9EC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974F41B-761F-6CDC-9102-110E29399516}"/>
              </a:ext>
            </a:extLst>
          </p:cNvPr>
          <p:cNvSpPr/>
          <p:nvPr/>
        </p:nvSpPr>
        <p:spPr>
          <a:xfrm>
            <a:off x="-352425" y="1428452"/>
            <a:ext cx="3581109" cy="18466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ko-KR" altLang="en-US" sz="2000" b="1" dirty="0">
                <a:latin typeface="+mj-ea"/>
                <a:ea typeface="+mj-ea"/>
              </a:rPr>
              <a:t>목표 </a:t>
            </a:r>
            <a:r>
              <a:rPr lang="en-US" altLang="ko-KR" sz="2000" b="1" dirty="0">
                <a:latin typeface="+mj-ea"/>
                <a:ea typeface="+mj-ea"/>
              </a:rPr>
              <a:t>: </a:t>
            </a:r>
            <a:r>
              <a:rPr lang="en-US" sz="2000" b="1" dirty="0">
                <a:latin typeface="+mj-ea"/>
                <a:ea typeface="+mj-ea"/>
              </a:rPr>
              <a:t>FIFO UVM </a:t>
            </a:r>
            <a:r>
              <a:rPr lang="ko-KR" altLang="en-US" sz="2000" b="1" dirty="0">
                <a:latin typeface="+mj-ea"/>
                <a:ea typeface="+mj-ea"/>
              </a:rPr>
              <a:t>검증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</a:p>
          <a:p>
            <a:r>
              <a:rPr lang="en-US" sz="2000" b="1" dirty="0">
                <a:latin typeface="+mj-ea"/>
                <a:ea typeface="+mj-ea"/>
              </a:rPr>
              <a:t>	1) FIFO</a:t>
            </a:r>
            <a:endParaRPr lang="en-US" altLang="ko-KR" sz="2000" b="1" dirty="0">
              <a:latin typeface="+mj-ea"/>
              <a:ea typeface="+mj-ea"/>
            </a:endParaRPr>
          </a:p>
          <a:p>
            <a:endParaRPr lang="en-US" sz="2000" b="1" dirty="0">
              <a:latin typeface="+mj-ea"/>
              <a:ea typeface="+mj-ea"/>
            </a:endParaRPr>
          </a:p>
          <a:p>
            <a:r>
              <a:rPr lang="en-US" sz="2000" b="1" dirty="0">
                <a:latin typeface="+mj-ea"/>
                <a:ea typeface="+mj-ea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+mj-ea"/>
                <a:ea typeface="+mj-ea"/>
              </a:rPr>
              <a:t>2) UVM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  <a:p>
            <a:endParaRPr lang="en-US" sz="2000" b="1" dirty="0">
              <a:latin typeface="+mj-ea"/>
              <a:ea typeface="+mj-ea"/>
            </a:endParaRP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937FF614-C462-CFCE-45BD-D869ED9A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8C314-A540-E2A7-43C8-C95A9916080B}"/>
              </a:ext>
            </a:extLst>
          </p:cNvPr>
          <p:cNvSpPr txBox="1"/>
          <p:nvPr/>
        </p:nvSpPr>
        <p:spPr>
          <a:xfrm>
            <a:off x="4407408" y="1370140"/>
            <a:ext cx="51528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UVM </a:t>
            </a:r>
            <a:r>
              <a:rPr lang="en-US" altLang="ko-KR" sz="2000" dirty="0">
                <a:latin typeface="+mj-ea"/>
                <a:ea typeface="+mj-ea"/>
              </a:rPr>
              <a:t>(</a:t>
            </a:r>
            <a:r>
              <a:rPr lang="ko-KR" altLang="ko-KR" sz="2000" dirty="0">
                <a:latin typeface="+mj-ea"/>
                <a:ea typeface="+mj-ea"/>
              </a:rPr>
              <a:t>Universal </a:t>
            </a:r>
            <a:r>
              <a:rPr lang="ko-KR" altLang="ko-KR" sz="2000" dirty="0" err="1">
                <a:latin typeface="+mj-ea"/>
                <a:ea typeface="+mj-ea"/>
              </a:rPr>
              <a:t>Verification</a:t>
            </a:r>
            <a:r>
              <a:rPr lang="ko-KR" altLang="ko-KR" sz="2000" dirty="0">
                <a:latin typeface="+mj-ea"/>
                <a:ea typeface="+mj-ea"/>
              </a:rPr>
              <a:t> </a:t>
            </a:r>
            <a:r>
              <a:rPr lang="ko-KR" altLang="ko-KR" sz="2000" dirty="0" err="1">
                <a:latin typeface="+mj-ea"/>
                <a:ea typeface="+mj-ea"/>
              </a:rPr>
              <a:t>Methodology</a:t>
            </a:r>
            <a:r>
              <a:rPr lang="en-US" altLang="ko-KR" sz="2000" dirty="0">
                <a:latin typeface="+mj-ea"/>
                <a:ea typeface="+mj-ea"/>
              </a:rPr>
              <a:t>)</a:t>
            </a:r>
            <a:endParaRPr lang="ko-KR" altLang="en-US" sz="2000" dirty="0"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019625-8B3E-8019-3C36-ABB40EB7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91" y="2229531"/>
            <a:ext cx="5178103" cy="4412042"/>
          </a:xfrm>
          <a:prstGeom prst="rect">
            <a:avLst/>
          </a:prstGeom>
        </p:spPr>
      </p:pic>
      <p:sp>
        <p:nvSpPr>
          <p:cNvPr id="15" name="빼기 기호 14">
            <a:extLst>
              <a:ext uri="{FF2B5EF4-FFF2-40B4-BE49-F238E27FC236}">
                <a16:creationId xmlns:a16="http://schemas.microsoft.com/office/drawing/2014/main" id="{DE006AFE-B794-254E-B061-DEA956FA5188}"/>
              </a:ext>
            </a:extLst>
          </p:cNvPr>
          <p:cNvSpPr/>
          <p:nvPr/>
        </p:nvSpPr>
        <p:spPr>
          <a:xfrm>
            <a:off x="4276725" y="3422302"/>
            <a:ext cx="1066800" cy="865764"/>
          </a:xfrm>
          <a:prstGeom prst="mathMinus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DBB52E-F6D1-4DD8-CB20-7C5D70A61678}"/>
              </a:ext>
            </a:extLst>
          </p:cNvPr>
          <p:cNvSpPr txBox="1"/>
          <p:nvPr/>
        </p:nvSpPr>
        <p:spPr>
          <a:xfrm>
            <a:off x="4407408" y="1702219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재사용성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표준화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</a:rPr>
              <a:t>캡슐화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빼기 기호 7">
            <a:extLst>
              <a:ext uri="{FF2B5EF4-FFF2-40B4-BE49-F238E27FC236}">
                <a16:creationId xmlns:a16="http://schemas.microsoft.com/office/drawing/2014/main" id="{560A45D2-CA9A-BAA9-01B4-9C4701D314CA}"/>
              </a:ext>
            </a:extLst>
          </p:cNvPr>
          <p:cNvSpPr/>
          <p:nvPr/>
        </p:nvSpPr>
        <p:spPr>
          <a:xfrm>
            <a:off x="6467475" y="5308252"/>
            <a:ext cx="752475" cy="865764"/>
          </a:xfrm>
          <a:prstGeom prst="mathMinus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빼기 기호 17">
            <a:extLst>
              <a:ext uri="{FF2B5EF4-FFF2-40B4-BE49-F238E27FC236}">
                <a16:creationId xmlns:a16="http://schemas.microsoft.com/office/drawing/2014/main" id="{DDC4E9C2-1190-68D6-633A-DB007D64F427}"/>
              </a:ext>
            </a:extLst>
          </p:cNvPr>
          <p:cNvSpPr/>
          <p:nvPr/>
        </p:nvSpPr>
        <p:spPr>
          <a:xfrm>
            <a:off x="8006736" y="2950486"/>
            <a:ext cx="851513" cy="865764"/>
          </a:xfrm>
          <a:prstGeom prst="mathMinus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A1B4CB54-0A35-05C9-D7CB-8E4BA26DC0A6}"/>
              </a:ext>
            </a:extLst>
          </p:cNvPr>
          <p:cNvSpPr/>
          <p:nvPr/>
        </p:nvSpPr>
        <p:spPr>
          <a:xfrm>
            <a:off x="8016261" y="2436136"/>
            <a:ext cx="851513" cy="865764"/>
          </a:xfrm>
          <a:prstGeom prst="mathMinus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빼기 기호 24">
            <a:extLst>
              <a:ext uri="{FF2B5EF4-FFF2-40B4-BE49-F238E27FC236}">
                <a16:creationId xmlns:a16="http://schemas.microsoft.com/office/drawing/2014/main" id="{1FAB4F27-0602-9918-6E74-D50295F9B143}"/>
              </a:ext>
            </a:extLst>
          </p:cNvPr>
          <p:cNvSpPr/>
          <p:nvPr/>
        </p:nvSpPr>
        <p:spPr>
          <a:xfrm>
            <a:off x="4076700" y="2022127"/>
            <a:ext cx="676275" cy="865764"/>
          </a:xfrm>
          <a:prstGeom prst="mathMinus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3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9DA9-2336-9E4C-2353-79D794813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47C98F-6624-0AC3-40F5-24BE7F3589D3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C66F2F-3D41-E1E4-74D3-051C4485E6E0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02. </a:t>
            </a:r>
            <a:r>
              <a:rPr lang="ko-KR" altLang="en-US" sz="2000" b="1" dirty="0">
                <a:latin typeface="+mj-ea"/>
                <a:ea typeface="+mj-ea"/>
              </a:rPr>
              <a:t>검증 설계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8494C8-8231-7DB8-507E-9A557019D604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DDBCB3AB-43E2-D684-57B9-32D08C8B9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4A2ABC-2FBA-527D-567A-A9639B806162}"/>
              </a:ext>
            </a:extLst>
          </p:cNvPr>
          <p:cNvSpPr txBox="1"/>
          <p:nvPr/>
        </p:nvSpPr>
        <p:spPr>
          <a:xfrm>
            <a:off x="4407408" y="1370140"/>
            <a:ext cx="12578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interface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67AAA9-4073-3FE6-F237-84453FC38B36}"/>
              </a:ext>
            </a:extLst>
          </p:cNvPr>
          <p:cNvSpPr txBox="1"/>
          <p:nvPr/>
        </p:nvSpPr>
        <p:spPr>
          <a:xfrm>
            <a:off x="4392110" y="1691579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DUT </a:t>
            </a:r>
            <a:r>
              <a:rPr lang="ko-KR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↔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TB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연결 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신호 타이밍 관리 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by. clocking block</a:t>
            </a:r>
            <a:endParaRPr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201F8CC5-AA12-935F-4C5D-A60D1DFDEBF5}"/>
              </a:ext>
            </a:extLst>
          </p:cNvPr>
          <p:cNvSpPr/>
          <p:nvPr/>
        </p:nvSpPr>
        <p:spPr>
          <a:xfrm>
            <a:off x="4492875" y="2217058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EDA06-E25B-C57D-9E99-CD1B1C52C34A}"/>
              </a:ext>
            </a:extLst>
          </p:cNvPr>
          <p:cNvSpPr txBox="1"/>
          <p:nvPr/>
        </p:nvSpPr>
        <p:spPr>
          <a:xfrm>
            <a:off x="4520307" y="2182295"/>
            <a:ext cx="15856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clocking block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CCAF4240-0002-555F-1C8B-7DB1A1BED474}"/>
              </a:ext>
            </a:extLst>
          </p:cNvPr>
          <p:cNvSpPr/>
          <p:nvPr/>
        </p:nvSpPr>
        <p:spPr>
          <a:xfrm>
            <a:off x="4492875" y="4434006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F90526-68E7-CE4A-26D7-41532F8C92E2}"/>
              </a:ext>
            </a:extLst>
          </p:cNvPr>
          <p:cNvSpPr txBox="1"/>
          <p:nvPr/>
        </p:nvSpPr>
        <p:spPr>
          <a:xfrm>
            <a:off x="4520307" y="4399243"/>
            <a:ext cx="10709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assertion</a:t>
            </a:r>
            <a:endParaRPr lang="ko-KR" altLang="en-US" sz="1600" b="1" dirty="0">
              <a:latin typeface="+mj-ea"/>
              <a:ea typeface="+mj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7126922-A0AE-1114-F243-A1393E59D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889" y="2351572"/>
            <a:ext cx="6978654" cy="219858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F73BCCD-F42F-2D77-5C53-1E177C108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535" y="4851273"/>
            <a:ext cx="5378630" cy="1577278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AFE79968-B016-F1D3-078F-86727CE8C536}"/>
              </a:ext>
            </a:extLst>
          </p:cNvPr>
          <p:cNvSpPr/>
          <p:nvPr/>
        </p:nvSpPr>
        <p:spPr>
          <a:xfrm>
            <a:off x="536448" y="1370140"/>
            <a:ext cx="3376215" cy="321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1) Interface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latin typeface="+mn-ea"/>
              </a:rPr>
              <a:t>2) Sequence</a:t>
            </a:r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latin typeface="+mn-ea"/>
              </a:rPr>
              <a:t>3) Coverage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r>
              <a:rPr lang="en-US" altLang="ko-KR" sz="2000" b="1" dirty="0">
                <a:latin typeface="+mn-ea"/>
              </a:rPr>
              <a:t>4) Scoreboard</a:t>
            </a:r>
          </a:p>
          <a:p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5) test</a:t>
            </a:r>
          </a:p>
          <a:p>
            <a:endParaRPr lang="en-US" sz="2000"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0A7EA-1D4B-EA0B-8AF4-17DB06DA63D8}"/>
              </a:ext>
            </a:extLst>
          </p:cNvPr>
          <p:cNvSpPr txBox="1"/>
          <p:nvPr/>
        </p:nvSpPr>
        <p:spPr>
          <a:xfrm>
            <a:off x="5665253" y="4405630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제한 조건 감시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0FCD4-F3AC-EEEA-80A4-C80E7F343E7D}"/>
              </a:ext>
            </a:extLst>
          </p:cNvPr>
          <p:cNvSpPr txBox="1"/>
          <p:nvPr/>
        </p:nvSpPr>
        <p:spPr>
          <a:xfrm>
            <a:off x="8437760" y="5314684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&gt;&gt; full = 1 &amp; empty = 1  X</a:t>
            </a:r>
            <a:endParaRPr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8652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A039-6FA8-891D-628A-4D9F05DD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2E9ED0-3061-FF43-0D34-26696BB741BE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D39B5D-1D90-0F8A-8EFE-0BDF67713521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02. </a:t>
            </a:r>
            <a:r>
              <a:rPr lang="ko-KR" altLang="en-US" sz="2000" b="1" dirty="0">
                <a:latin typeface="+mj-ea"/>
                <a:ea typeface="+mj-ea"/>
              </a:rPr>
              <a:t>검증 설계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9487B2-BCAB-3B1F-41D7-CEFDCDAAF8D1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322C76F9-A295-4F04-D32A-582AB127E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FB400D-6336-58F8-A372-9E21BC469CE4}"/>
              </a:ext>
            </a:extLst>
          </p:cNvPr>
          <p:cNvSpPr txBox="1"/>
          <p:nvPr/>
        </p:nvSpPr>
        <p:spPr>
          <a:xfrm>
            <a:off x="4407408" y="1370140"/>
            <a:ext cx="19772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sequence_item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29706-D4D2-76F6-73AF-FE5A47FB30CA}"/>
              </a:ext>
            </a:extLst>
          </p:cNvPr>
          <p:cNvSpPr txBox="1"/>
          <p:nvPr/>
        </p:nvSpPr>
        <p:spPr>
          <a:xfrm>
            <a:off x="4392110" y="3637111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DUT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에 어떤 자극을 몇 회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C2F711-BE73-8755-50D7-E14D6591A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090251"/>
              </p:ext>
            </p:extLst>
          </p:nvPr>
        </p:nvGraphicFramePr>
        <p:xfrm>
          <a:off x="4392110" y="4037338"/>
          <a:ext cx="7105908" cy="2444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5658">
                  <a:extLst>
                    <a:ext uri="{9D8B030D-6E8A-4147-A177-3AD203B41FA5}">
                      <a16:colId xmlns:a16="http://schemas.microsoft.com/office/drawing/2014/main" val="2157132368"/>
                    </a:ext>
                  </a:extLst>
                </a:gridCol>
                <a:gridCol w="1008558">
                  <a:extLst>
                    <a:ext uri="{9D8B030D-6E8A-4147-A177-3AD203B41FA5}">
                      <a16:colId xmlns:a16="http://schemas.microsoft.com/office/drawing/2014/main" val="214469474"/>
                    </a:ext>
                  </a:extLst>
                </a:gridCol>
                <a:gridCol w="2130758">
                  <a:extLst>
                    <a:ext uri="{9D8B030D-6E8A-4147-A177-3AD203B41FA5}">
                      <a16:colId xmlns:a16="http://schemas.microsoft.com/office/drawing/2014/main" val="4079334586"/>
                    </a:ext>
                  </a:extLst>
                </a:gridCol>
                <a:gridCol w="2720934">
                  <a:extLst>
                    <a:ext uri="{9D8B030D-6E8A-4147-A177-3AD203B41FA5}">
                      <a16:colId xmlns:a16="http://schemas.microsoft.com/office/drawing/2014/main" val="3561013486"/>
                    </a:ext>
                  </a:extLst>
                </a:gridCol>
              </a:tblGrid>
              <a:tr h="407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시퀀스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횟수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제약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목적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0415"/>
                  </a:ext>
                </a:extLst>
              </a:tr>
              <a:tr h="407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reset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rst_n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=0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200" u="none" strike="noStrike" dirty="0">
                          <a:effectLst/>
                          <a:latin typeface="+mn-ea"/>
                          <a:ea typeface="+mn-ea"/>
                        </a:rPr>
                        <a:t>리셋 동작 확인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503524"/>
                  </a:ext>
                </a:extLst>
              </a:tr>
              <a:tr h="407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full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=1,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=0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 상태 도달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+ 16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 경계 조건 확인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650354"/>
                  </a:ext>
                </a:extLst>
              </a:tr>
              <a:tr h="407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empty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=0,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 상태 도달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+ 16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 경계 조건 확인</a:t>
                      </a:r>
                      <a:endParaRPr lang="ko-KR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554204"/>
                  </a:ext>
                </a:extLst>
              </a:tr>
              <a:tr h="407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concurrent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5 (×2)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=1,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+mn-ea"/>
                          <a:ea typeface="+mn-ea"/>
                        </a:rPr>
                        <a:t>full</a:t>
                      </a:r>
                      <a:r>
                        <a:rPr lang="ko-KR" sz="1200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sz="1200" u="none" strike="noStrike" dirty="0" err="1">
                          <a:effectLst/>
                          <a:latin typeface="+mn-ea"/>
                          <a:ea typeface="+mn-ea"/>
                        </a:rPr>
                        <a:t>empty</a:t>
                      </a:r>
                      <a:r>
                        <a:rPr lang="ko-KR" sz="1200" u="none" strike="noStrike" dirty="0">
                          <a:effectLst/>
                          <a:latin typeface="+mn-ea"/>
                          <a:ea typeface="+mn-ea"/>
                        </a:rPr>
                        <a:t> 직후 각각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29615"/>
                  </a:ext>
                </a:extLst>
              </a:tr>
              <a:tr h="4073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normal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dist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4 : 4 : 1 : 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200" u="none" strike="noStrike" dirty="0">
                          <a:effectLst/>
                          <a:latin typeface="+mn-ea"/>
                          <a:ea typeface="+mn-ea"/>
                        </a:rPr>
                        <a:t>일반 랜덤 동작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534192"/>
                  </a:ext>
                </a:extLst>
              </a:tr>
            </a:tbl>
          </a:graphicData>
        </a:graphic>
      </p:graphicFrame>
      <p:pic>
        <p:nvPicPr>
          <p:cNvPr id="17" name="Picture 9">
            <a:extLst>
              <a:ext uri="{FF2B5EF4-FFF2-40B4-BE49-F238E27FC236}">
                <a16:creationId xmlns:a16="http://schemas.microsoft.com/office/drawing/2014/main" id="{47DBBFE4-9CF5-1425-2020-3321DDFE4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3381686"/>
            <a:ext cx="248993" cy="2427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8714CE8-C762-CCF1-FC48-565883B47F70}"/>
              </a:ext>
            </a:extLst>
          </p:cNvPr>
          <p:cNvSpPr txBox="1"/>
          <p:nvPr/>
        </p:nvSpPr>
        <p:spPr>
          <a:xfrm>
            <a:off x="4407408" y="3303015"/>
            <a:ext cx="13227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sequence</a:t>
            </a:r>
            <a:endParaRPr lang="ko-KR" altLang="en-US" sz="2000" dirty="0">
              <a:latin typeface="+mj-ea"/>
              <a:ea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B467D9F-0294-8556-9F4A-0780CA25B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989700"/>
              </p:ext>
            </p:extLst>
          </p:nvPr>
        </p:nvGraphicFramePr>
        <p:xfrm>
          <a:off x="4407407" y="1888039"/>
          <a:ext cx="7090609" cy="11608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7273">
                  <a:extLst>
                    <a:ext uri="{9D8B030D-6E8A-4147-A177-3AD203B41FA5}">
                      <a16:colId xmlns:a16="http://schemas.microsoft.com/office/drawing/2014/main" val="58447743"/>
                    </a:ext>
                  </a:extLst>
                </a:gridCol>
                <a:gridCol w="1225834">
                  <a:extLst>
                    <a:ext uri="{9D8B030D-6E8A-4147-A177-3AD203B41FA5}">
                      <a16:colId xmlns:a16="http://schemas.microsoft.com/office/drawing/2014/main" val="1337961901"/>
                    </a:ext>
                  </a:extLst>
                </a:gridCol>
                <a:gridCol w="1225834">
                  <a:extLst>
                    <a:ext uri="{9D8B030D-6E8A-4147-A177-3AD203B41FA5}">
                      <a16:colId xmlns:a16="http://schemas.microsoft.com/office/drawing/2014/main" val="2624000442"/>
                    </a:ext>
                  </a:extLst>
                </a:gridCol>
                <a:gridCol w="1225834">
                  <a:extLst>
                    <a:ext uri="{9D8B030D-6E8A-4147-A177-3AD203B41FA5}">
                      <a16:colId xmlns:a16="http://schemas.microsoft.com/office/drawing/2014/main" val="432492016"/>
                    </a:ext>
                  </a:extLst>
                </a:gridCol>
                <a:gridCol w="1225834">
                  <a:extLst>
                    <a:ext uri="{9D8B030D-6E8A-4147-A177-3AD203B41FA5}">
                      <a16:colId xmlns:a16="http://schemas.microsoft.com/office/drawing/2014/main" val="3021368860"/>
                    </a:ext>
                  </a:extLst>
                </a:gridCol>
              </a:tblGrid>
              <a:tr h="3869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random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u="none" strike="noStrike" dirty="0" err="1">
                          <a:effectLst/>
                          <a:latin typeface="+mn-ea"/>
                          <a:ea typeface="+mn-ea"/>
                        </a:rPr>
                        <a:t>reset_n</a:t>
                      </a: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600" b="0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600" b="0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600" b="0" u="none" strike="noStrike" dirty="0" err="1">
                          <a:effectLst/>
                          <a:latin typeface="+mn-ea"/>
                          <a:ea typeface="+mn-ea"/>
                        </a:rPr>
                        <a:t>wdata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281057"/>
                  </a:ext>
                </a:extLst>
              </a:tr>
              <a:tr h="3869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reset_n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1(98%)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0(2%)</a:t>
                      </a:r>
                      <a:endParaRPr lang="ko-KR" sz="1600" b="0" i="0" u="none" strike="noStrike" dirty="0">
                        <a:solidFill>
                          <a:srgbClr val="24242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545166"/>
                  </a:ext>
                </a:extLst>
              </a:tr>
              <a:tr h="3869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push,pop</a:t>
                      </a: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00(10%)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01(40%) </a:t>
                      </a:r>
                      <a:endParaRPr lang="ko-KR" sz="1600" b="0" i="0" u="none" strike="noStrike" dirty="0">
                        <a:solidFill>
                          <a:srgbClr val="24242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10(40%)</a:t>
                      </a:r>
                      <a:endParaRPr lang="ko-KR" sz="1600" b="0" i="0" u="none" strike="noStrike" dirty="0">
                        <a:solidFill>
                          <a:srgbClr val="24242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11(10%)</a:t>
                      </a:r>
                      <a:endParaRPr lang="ko-KR" sz="1600" b="0" i="0" u="none" strike="noStrike" dirty="0">
                        <a:solidFill>
                          <a:srgbClr val="24242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36286"/>
                  </a:ext>
                </a:extLst>
              </a:tr>
            </a:tbl>
          </a:graphicData>
        </a:graphic>
      </p:graphicFrame>
      <p:sp>
        <p:nvSpPr>
          <p:cNvPr id="29" name="Text 1">
            <a:extLst>
              <a:ext uri="{FF2B5EF4-FFF2-40B4-BE49-F238E27FC236}">
                <a16:creationId xmlns:a16="http://schemas.microsoft.com/office/drawing/2014/main" id="{B116A561-CC88-9EE2-7140-5F26C13A7E4A}"/>
              </a:ext>
            </a:extLst>
          </p:cNvPr>
          <p:cNvSpPr/>
          <p:nvPr/>
        </p:nvSpPr>
        <p:spPr>
          <a:xfrm>
            <a:off x="536448" y="1370140"/>
            <a:ext cx="3376215" cy="321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latin typeface="+mn-ea"/>
              </a:rPr>
              <a:t>1) Interface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solidFill>
                  <a:srgbClr val="FF0000"/>
                </a:solidFill>
                <a:latin typeface="+mn-ea"/>
              </a:rPr>
              <a:t>2) Sequence</a:t>
            </a:r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latin typeface="+mn-ea"/>
              </a:rPr>
              <a:t>3) Coverage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r>
              <a:rPr lang="en-US" altLang="ko-KR" sz="2000" b="1" dirty="0">
                <a:latin typeface="+mn-ea"/>
              </a:rPr>
              <a:t>4) Scoreboard</a:t>
            </a:r>
          </a:p>
          <a:p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5) test</a:t>
            </a:r>
          </a:p>
          <a:p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003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B1FE-B505-9097-E94E-768CCC52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420BB1-39EE-9BF3-26F8-3473031CADCC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FEE956-47F9-A308-EDEF-47B064779F93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02. </a:t>
            </a:r>
            <a:r>
              <a:rPr lang="ko-KR" altLang="en-US" sz="2000" b="1" dirty="0">
                <a:latin typeface="+mj-ea"/>
                <a:ea typeface="+mj-ea"/>
              </a:rPr>
              <a:t>검증 설계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FB1421-26AB-4526-B161-EFB23D598D72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76D4F8E6-7FB7-CB95-106B-26DCF8171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71DD00-8B16-BD1F-87BD-1258F0CB94B9}"/>
              </a:ext>
            </a:extLst>
          </p:cNvPr>
          <p:cNvSpPr txBox="1"/>
          <p:nvPr/>
        </p:nvSpPr>
        <p:spPr>
          <a:xfrm>
            <a:off x="4407408" y="1370140"/>
            <a:ext cx="12863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coverage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63B01-087D-346B-F54B-0BBC1E5F38F2}"/>
              </a:ext>
            </a:extLst>
          </p:cNvPr>
          <p:cNvSpPr txBox="1"/>
          <p:nvPr/>
        </p:nvSpPr>
        <p:spPr>
          <a:xfrm>
            <a:off x="4407408" y="1702219"/>
            <a:ext cx="71368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상태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동작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데이터 범위 및 상태별 동작 조합이 테스트에서 수행 되었는지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065CD23-BCD8-F78F-153C-59E3FAC53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66037"/>
              </p:ext>
            </p:extLst>
          </p:nvPr>
        </p:nvGraphicFramePr>
        <p:xfrm>
          <a:off x="4143117" y="2233837"/>
          <a:ext cx="7648573" cy="30144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7078">
                  <a:extLst>
                    <a:ext uri="{9D8B030D-6E8A-4147-A177-3AD203B41FA5}">
                      <a16:colId xmlns:a16="http://schemas.microsoft.com/office/drawing/2014/main" val="388083710"/>
                    </a:ext>
                  </a:extLst>
                </a:gridCol>
                <a:gridCol w="1486006">
                  <a:extLst>
                    <a:ext uri="{9D8B030D-6E8A-4147-A177-3AD203B41FA5}">
                      <a16:colId xmlns:a16="http://schemas.microsoft.com/office/drawing/2014/main" val="195798257"/>
                    </a:ext>
                  </a:extLst>
                </a:gridCol>
                <a:gridCol w="2300519">
                  <a:extLst>
                    <a:ext uri="{9D8B030D-6E8A-4147-A177-3AD203B41FA5}">
                      <a16:colId xmlns:a16="http://schemas.microsoft.com/office/drawing/2014/main" val="3694125262"/>
                    </a:ext>
                  </a:extLst>
                </a:gridCol>
                <a:gridCol w="2704970">
                  <a:extLst>
                    <a:ext uri="{9D8B030D-6E8A-4147-A177-3AD203B41FA5}">
                      <a16:colId xmlns:a16="http://schemas.microsoft.com/office/drawing/2014/main" val="3102057544"/>
                    </a:ext>
                  </a:extLst>
                </a:gridCol>
              </a:tblGrid>
              <a:tr h="3857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대상 신호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600" b="1" u="none" strike="noStrike" dirty="0">
                          <a:effectLst/>
                          <a:latin typeface="+mn-ea"/>
                          <a:ea typeface="+mn-ea"/>
                        </a:rPr>
                        <a:t>값 범위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조건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69677"/>
                  </a:ext>
                </a:extLst>
              </a:tr>
              <a:tr h="385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cp_empty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empty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0 / 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16019"/>
                  </a:ext>
                </a:extLst>
              </a:tr>
              <a:tr h="385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cp_full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full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0 / 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541880"/>
                  </a:ext>
                </a:extLst>
              </a:tr>
              <a:tr h="385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cp_op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/ 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01 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/</a:t>
                      </a:r>
                      <a:r>
                        <a:rPr lang="en-US" altLang="ko-KR" sz="1600" u="none" strike="noStrike" dirty="0">
                          <a:effectLst/>
                          <a:latin typeface="+mn-ea"/>
                          <a:ea typeface="+mn-ea"/>
                        </a:rPr>
                        <a:t> 11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031628"/>
                  </a:ext>
                </a:extLst>
              </a:tr>
              <a:tr h="385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cp_wdata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wdata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0 ~ 255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b="0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sz="1600" b="0" u="none" strike="noStrike" dirty="0">
                          <a:effectLst/>
                          <a:latin typeface="+mn-ea"/>
                          <a:ea typeface="+mn-ea"/>
                        </a:rPr>
                        <a:t> == 1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551845"/>
                  </a:ext>
                </a:extLst>
              </a:tr>
              <a:tr h="3857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cp_rdata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rdata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0 ~ 255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== 1 &amp;&amp; </a:t>
                      </a: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empty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== 0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657110"/>
                  </a:ext>
                </a:extLst>
              </a:tr>
              <a:tr h="7001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cx_op_state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600" b="1" u="none" strike="noStrike" dirty="0">
                          <a:effectLst/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push</a:t>
                      </a:r>
                      <a:r>
                        <a:rPr lang="ko-KR" altLang="ko-KR" sz="1600" b="1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pop</a:t>
                      </a:r>
                      <a:r>
                        <a:rPr lang="ko-KR" altLang="ko-KR" sz="1600" b="1" u="none" strike="noStrike" dirty="0"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ko-KR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× </a:t>
                      </a: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full</a:t>
                      </a: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 × </a:t>
                      </a: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empty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12개 조합 </a:t>
                      </a:r>
                      <a:endParaRPr lang="en-US" altLang="ko-KR" sz="16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full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=1 &amp; </a:t>
                      </a: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empty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=1 제외)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141188"/>
                  </a:ext>
                </a:extLst>
              </a:tr>
            </a:tbl>
          </a:graphicData>
        </a:graphic>
      </p:graphicFrame>
      <p:sp>
        <p:nvSpPr>
          <p:cNvPr id="42" name="왼쪽 중괄호 41">
            <a:extLst>
              <a:ext uri="{FF2B5EF4-FFF2-40B4-BE49-F238E27FC236}">
                <a16:creationId xmlns:a16="http://schemas.microsoft.com/office/drawing/2014/main" id="{C5D9CA0D-897A-01ED-81FB-07E561DFB2B5}"/>
              </a:ext>
            </a:extLst>
          </p:cNvPr>
          <p:cNvSpPr/>
          <p:nvPr/>
        </p:nvSpPr>
        <p:spPr>
          <a:xfrm>
            <a:off x="3714750" y="3448703"/>
            <a:ext cx="352425" cy="169515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ED732A-51F3-98BE-4002-7357DD18B977}"/>
              </a:ext>
            </a:extLst>
          </p:cNvPr>
          <p:cNvSpPr txBox="1"/>
          <p:nvPr/>
        </p:nvSpPr>
        <p:spPr>
          <a:xfrm>
            <a:off x="3792066" y="5265180"/>
            <a:ext cx="15529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Report Log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44847134-5AB2-B21D-871F-4B8372E4018A}"/>
              </a:ext>
            </a:extLst>
          </p:cNvPr>
          <p:cNvSpPr/>
          <p:nvPr/>
        </p:nvSpPr>
        <p:spPr>
          <a:xfrm>
            <a:off x="536448" y="1370140"/>
            <a:ext cx="3376215" cy="321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latin typeface="+mn-ea"/>
              </a:rPr>
              <a:t>1) Interface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latin typeface="+mn-ea"/>
              </a:rPr>
              <a:t>2) Sequence</a:t>
            </a:r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+mn-ea"/>
              </a:rPr>
              <a:t>3) Coverage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r>
              <a:rPr lang="en-US" altLang="ko-KR" sz="2000" b="1" dirty="0">
                <a:latin typeface="+mn-ea"/>
              </a:rPr>
              <a:t>4) Scoreboard</a:t>
            </a:r>
          </a:p>
          <a:p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5) test</a:t>
            </a:r>
          </a:p>
          <a:p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468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D647-F2F4-8B0D-3A62-B78F725B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2DAB3F-3053-419B-ABCA-9CC5816288B0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8C1F65-D727-7CDC-EDB2-762484380984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02. </a:t>
            </a:r>
            <a:r>
              <a:rPr lang="ko-KR" altLang="en-US" sz="2000" b="1" dirty="0">
                <a:latin typeface="+mj-ea"/>
                <a:ea typeface="+mj-ea"/>
              </a:rPr>
              <a:t>검증 설계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1ED2E81-3215-95D4-2234-D586D5DA4133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42EE78D9-BE77-43F9-5AFF-519DD43DE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4611F0-0D93-FF54-0D58-FEB7A76F51B3}"/>
              </a:ext>
            </a:extLst>
          </p:cNvPr>
          <p:cNvSpPr txBox="1"/>
          <p:nvPr/>
        </p:nvSpPr>
        <p:spPr>
          <a:xfrm>
            <a:off x="4407408" y="1370140"/>
            <a:ext cx="15704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scoreboard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AAC219-8ACE-F540-4978-9660720E77F3}"/>
              </a:ext>
            </a:extLst>
          </p:cNvPr>
          <p:cNvSpPr txBox="1"/>
          <p:nvPr/>
        </p:nvSpPr>
        <p:spPr>
          <a:xfrm>
            <a:off x="4407408" y="1743942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예측 값과 실제 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DUT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값 비교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EDC241-9B13-A39A-454C-4D35F218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43296"/>
              </p:ext>
            </p:extLst>
          </p:nvPr>
        </p:nvGraphicFramePr>
        <p:xfrm>
          <a:off x="4129795" y="2196622"/>
          <a:ext cx="7499938" cy="2313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8230">
                  <a:extLst>
                    <a:ext uri="{9D8B030D-6E8A-4147-A177-3AD203B41FA5}">
                      <a16:colId xmlns:a16="http://schemas.microsoft.com/office/drawing/2014/main" val="1706765946"/>
                    </a:ext>
                  </a:extLst>
                </a:gridCol>
                <a:gridCol w="1630216">
                  <a:extLst>
                    <a:ext uri="{9D8B030D-6E8A-4147-A177-3AD203B41FA5}">
                      <a16:colId xmlns:a16="http://schemas.microsoft.com/office/drawing/2014/main" val="4062499002"/>
                    </a:ext>
                  </a:extLst>
                </a:gridCol>
                <a:gridCol w="1261667">
                  <a:extLst>
                    <a:ext uri="{9D8B030D-6E8A-4147-A177-3AD203B41FA5}">
                      <a16:colId xmlns:a16="http://schemas.microsoft.com/office/drawing/2014/main" val="2941991285"/>
                    </a:ext>
                  </a:extLst>
                </a:gridCol>
                <a:gridCol w="3639825">
                  <a:extLst>
                    <a:ext uri="{9D8B030D-6E8A-4147-A177-3AD203B41FA5}">
                      <a16:colId xmlns:a16="http://schemas.microsoft.com/office/drawing/2014/main" val="2804270406"/>
                    </a:ext>
                  </a:extLst>
                </a:gridCol>
              </a:tblGrid>
              <a:tr h="462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비교 대상(DUT)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 err="1">
                          <a:effectLst/>
                          <a:latin typeface="+mn-ea"/>
                          <a:ea typeface="+mn-ea"/>
                        </a:rPr>
                        <a:t>예측값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b="1" u="none" strike="noStrike" dirty="0"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50346"/>
                  </a:ext>
                </a:extLst>
              </a:tr>
              <a:tr h="462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Flag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full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pred_full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FIFO가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꽉 찼는지 상태 예측이 맞는지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399251"/>
                  </a:ext>
                </a:extLst>
              </a:tr>
              <a:tr h="462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Flag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>
                          <a:effectLst/>
                          <a:latin typeface="+mn-ea"/>
                          <a:ea typeface="+mn-ea"/>
                        </a:rPr>
                        <a:t>empty</a:t>
                      </a:r>
                      <a:endParaRPr lang="ko-KR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pred_empty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FIFO가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비었는지 상태 예측이 맞는지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866704"/>
                  </a:ext>
                </a:extLst>
              </a:tr>
              <a:tr h="462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Data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rdata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pred_rdata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600" u="none" strike="noStrike" dirty="0" err="1">
                          <a:effectLst/>
                          <a:latin typeface="+mn-ea"/>
                          <a:ea typeface="+mn-ea"/>
                        </a:rPr>
                        <a:t>pop된</a:t>
                      </a:r>
                      <a:r>
                        <a:rPr lang="ko-KR" sz="1600" u="none" strike="noStrike" dirty="0">
                          <a:effectLst/>
                          <a:latin typeface="+mn-ea"/>
                          <a:ea typeface="+mn-ea"/>
                        </a:rPr>
                        <a:t> 데이터 값이 예측과 일치하는지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89510"/>
                  </a:ext>
                </a:extLst>
              </a:tr>
              <a:tr h="462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Reset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rst_n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리셋 중이면 비교 생략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skip_cnt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++</a:t>
                      </a:r>
                      <a:endParaRPr 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386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0247767-CC03-E389-0907-9D1627D41629}"/>
              </a:ext>
            </a:extLst>
          </p:cNvPr>
          <p:cNvSpPr txBox="1"/>
          <p:nvPr/>
        </p:nvSpPr>
        <p:spPr>
          <a:xfrm>
            <a:off x="4097022" y="4793735"/>
            <a:ext cx="49319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통계 변수 </a:t>
            </a:r>
            <a:r>
              <a:rPr lang="en-US" altLang="ko-KR" sz="1600" b="1" dirty="0">
                <a:latin typeface="+mj-ea"/>
                <a:ea typeface="+mj-ea"/>
              </a:rPr>
              <a:t>: </a:t>
            </a:r>
            <a:r>
              <a:rPr lang="en-US" altLang="ko-KR" sz="1600" b="1" dirty="0" err="1">
                <a:latin typeface="+mj-ea"/>
                <a:ea typeface="+mj-ea"/>
              </a:rPr>
              <a:t>flag_pass</a:t>
            </a:r>
            <a:r>
              <a:rPr lang="en-US" altLang="ko-KR" sz="1600" b="1" dirty="0">
                <a:latin typeface="+mj-ea"/>
                <a:ea typeface="+mj-ea"/>
              </a:rPr>
              <a:t>/fail, </a:t>
            </a:r>
            <a:r>
              <a:rPr lang="en-US" altLang="ko-KR" sz="1600" b="1" dirty="0" err="1">
                <a:latin typeface="+mj-ea"/>
                <a:ea typeface="+mj-ea"/>
              </a:rPr>
              <a:t>data_pass</a:t>
            </a:r>
            <a:r>
              <a:rPr lang="en-US" altLang="ko-KR" sz="1600" b="1" dirty="0">
                <a:latin typeface="+mj-ea"/>
                <a:ea typeface="+mj-ea"/>
              </a:rPr>
              <a:t>/fail, </a:t>
            </a:r>
            <a:r>
              <a:rPr lang="en-US" altLang="ko-KR" sz="1600" b="1" dirty="0" err="1">
                <a:latin typeface="+mj-ea"/>
                <a:ea typeface="+mj-ea"/>
              </a:rPr>
              <a:t>skip_cnt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E3D0980-B8C1-0193-C232-61844D3B7853}"/>
              </a:ext>
            </a:extLst>
          </p:cNvPr>
          <p:cNvSpPr/>
          <p:nvPr/>
        </p:nvSpPr>
        <p:spPr>
          <a:xfrm>
            <a:off x="536448" y="1370140"/>
            <a:ext cx="3376215" cy="321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latin typeface="+mn-ea"/>
              </a:rPr>
              <a:t>1) Interface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latin typeface="+mn-ea"/>
              </a:rPr>
              <a:t>2) Sequence</a:t>
            </a:r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latin typeface="+mn-ea"/>
              </a:rPr>
              <a:t>3) Coverage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4) Scoreboard</a:t>
            </a:r>
          </a:p>
          <a:p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5) test</a:t>
            </a:r>
          </a:p>
          <a:p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017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61DF5-112A-8C67-DFFF-8022DB01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33FF68-10B3-7B4E-980F-73030AD2300A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FC1C23-1493-490A-E797-0A4E66C84E0C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02. </a:t>
            </a:r>
            <a:r>
              <a:rPr lang="ko-KR" altLang="en-US" sz="2000" b="1" dirty="0">
                <a:latin typeface="+mj-ea"/>
                <a:ea typeface="+mj-ea"/>
              </a:rPr>
              <a:t>검증 설계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9EF22F-FB23-AFD5-9774-684A72453F52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4AA056CE-A146-E444-F870-CF2892DF8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1448811"/>
            <a:ext cx="248993" cy="242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33C033-401F-2CC0-8F7B-B1CA9EC6D8F2}"/>
              </a:ext>
            </a:extLst>
          </p:cNvPr>
          <p:cNvSpPr txBox="1"/>
          <p:nvPr/>
        </p:nvSpPr>
        <p:spPr>
          <a:xfrm>
            <a:off x="4407408" y="1370140"/>
            <a:ext cx="6387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test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D9E34AD3-A11B-2DDA-3DD8-B12C1C9AF949}"/>
              </a:ext>
            </a:extLst>
          </p:cNvPr>
          <p:cNvSpPr/>
          <p:nvPr/>
        </p:nvSpPr>
        <p:spPr>
          <a:xfrm>
            <a:off x="536448" y="1370140"/>
            <a:ext cx="3376215" cy="321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latin typeface="+mn-ea"/>
              </a:rPr>
              <a:t>1) Interface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latin typeface="+mn-ea"/>
              </a:rPr>
              <a:t>2) Sequence</a:t>
            </a:r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latin typeface="+mn-ea"/>
              </a:rPr>
              <a:t>3) Coverage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r>
              <a:rPr lang="en-US" altLang="ko-KR" sz="2000" b="1" dirty="0">
                <a:latin typeface="+mn-ea"/>
              </a:rPr>
              <a:t>4) Scoreboard</a:t>
            </a:r>
          </a:p>
          <a:p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5) test</a:t>
            </a:r>
          </a:p>
          <a:p>
            <a:endParaRPr lang="en-US" sz="20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B9CD16-FE18-09C1-DA0E-107FBDD428BA}"/>
              </a:ext>
            </a:extLst>
          </p:cNvPr>
          <p:cNvSpPr txBox="1"/>
          <p:nvPr/>
        </p:nvSpPr>
        <p:spPr>
          <a:xfrm>
            <a:off x="4407408" y="1702219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시퀀스 실행 순서를 정하고 테스트 전체를 제어</a:t>
            </a:r>
            <a:endParaRPr lang="ko-KR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19D258-4BF2-4E57-716A-B06C117CE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447691"/>
              </p:ext>
            </p:extLst>
          </p:nvPr>
        </p:nvGraphicFramePr>
        <p:xfrm>
          <a:off x="4131849" y="2188483"/>
          <a:ext cx="7866317" cy="22777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939243696"/>
                    </a:ext>
                  </a:extLst>
                </a:gridCol>
                <a:gridCol w="3152775">
                  <a:extLst>
                    <a:ext uri="{9D8B030D-6E8A-4147-A177-3AD203B41FA5}">
                      <a16:colId xmlns:a16="http://schemas.microsoft.com/office/drawing/2014/main" val="359817563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41880301"/>
                    </a:ext>
                  </a:extLst>
                </a:gridCol>
                <a:gridCol w="2694242">
                  <a:extLst>
                    <a:ext uri="{9D8B030D-6E8A-4147-A177-3AD203B41FA5}">
                      <a16:colId xmlns:a16="http://schemas.microsoft.com/office/drawing/2014/main" val="2327333024"/>
                    </a:ext>
                  </a:extLst>
                </a:gridCol>
              </a:tblGrid>
              <a:tr h="455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순서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시퀀스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반복 횟수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목적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8271"/>
                  </a:ext>
                </a:extLst>
              </a:tr>
              <a:tr h="455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①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 err="1">
                          <a:latin typeface="+mn-ea"/>
                          <a:ea typeface="+mn-ea"/>
                        </a:rPr>
                        <a:t>reset</a:t>
                      </a:r>
                      <a:endParaRPr 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>
                          <a:latin typeface="+mn-ea"/>
                          <a:ea typeface="+mn-ea"/>
                        </a:rPr>
                        <a:t>×5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>
                          <a:latin typeface="+mn-ea"/>
                          <a:ea typeface="+mn-ea"/>
                        </a:rPr>
                        <a:t>초기 리셋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835281"/>
                  </a:ext>
                </a:extLst>
              </a:tr>
              <a:tr h="455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>
                          <a:latin typeface="+mn-ea"/>
                          <a:ea typeface="+mn-ea"/>
                        </a:rPr>
                        <a:t>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ko-KR" sz="1600" dirty="0" err="1">
                          <a:latin typeface="+mn-ea"/>
                          <a:ea typeface="+mn-ea"/>
                        </a:rPr>
                        <a:t>ull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600" dirty="0">
                          <a:latin typeface="+mn-ea"/>
                          <a:ea typeface="+mn-ea"/>
                        </a:rPr>
                        <a:t>→ </a:t>
                      </a:r>
                      <a:r>
                        <a:rPr lang="ko-KR" sz="1600" dirty="0" err="1">
                          <a:latin typeface="+mn-ea"/>
                          <a:ea typeface="+mn-ea"/>
                        </a:rPr>
                        <a:t>concurrent</a:t>
                      </a:r>
                      <a:endParaRPr 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>
                          <a:latin typeface="+mn-ea"/>
                          <a:ea typeface="+mn-ea"/>
                        </a:rPr>
                        <a:t>×32 → ×5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 err="1">
                          <a:latin typeface="+mn-ea"/>
                          <a:ea typeface="+mn-ea"/>
                        </a:rPr>
                        <a:t>full</a:t>
                      </a:r>
                      <a:r>
                        <a:rPr 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엣지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케이스</a:t>
                      </a:r>
                      <a:endParaRPr 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00984"/>
                  </a:ext>
                </a:extLst>
              </a:tr>
              <a:tr h="455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③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 err="1">
                          <a:latin typeface="+mn-ea"/>
                          <a:ea typeface="+mn-ea"/>
                        </a:rPr>
                        <a:t>empty</a:t>
                      </a:r>
                      <a:r>
                        <a:rPr lang="ko-KR" sz="1600" dirty="0">
                          <a:latin typeface="+mn-ea"/>
                          <a:ea typeface="+mn-ea"/>
                        </a:rPr>
                        <a:t> → </a:t>
                      </a:r>
                      <a:r>
                        <a:rPr lang="ko-KR" sz="1600" dirty="0" err="1">
                          <a:latin typeface="+mn-ea"/>
                          <a:ea typeface="+mn-ea"/>
                        </a:rPr>
                        <a:t>concurrent</a:t>
                      </a:r>
                      <a:endParaRPr 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+mn-ea"/>
                          <a:ea typeface="+mn-ea"/>
                        </a:rPr>
                        <a:t>×32 → ×5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 err="1">
                          <a:latin typeface="+mn-ea"/>
                          <a:ea typeface="+mn-ea"/>
                        </a:rPr>
                        <a:t>empty</a:t>
                      </a:r>
                      <a:r>
                        <a:rPr 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엣지</a:t>
                      </a:r>
                      <a:r>
                        <a:rPr lang="ko-KR" sz="1600" dirty="0">
                          <a:latin typeface="+mn-ea"/>
                          <a:ea typeface="+mn-ea"/>
                        </a:rPr>
                        <a:t> 케이스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36034"/>
                  </a:ext>
                </a:extLst>
              </a:tr>
              <a:tr h="455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b="1" dirty="0">
                          <a:latin typeface="+mn-ea"/>
                          <a:ea typeface="+mn-ea"/>
                        </a:rPr>
                        <a:t>④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 err="1">
                          <a:latin typeface="+mn-ea"/>
                          <a:ea typeface="+mn-ea"/>
                        </a:rPr>
                        <a:t>normal</a:t>
                      </a:r>
                      <a:endParaRPr 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+mn-ea"/>
                          <a:ea typeface="+mn-ea"/>
                        </a:rPr>
                        <a:t>×20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00</a:t>
                      </a:r>
                      <a:endParaRPr lang="ko-KR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+mn-ea"/>
                          <a:ea typeface="+mn-ea"/>
                        </a:rPr>
                        <a:t>랜덤 동작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978326"/>
                  </a:ext>
                </a:extLst>
              </a:tr>
            </a:tbl>
          </a:graphicData>
        </a:graphic>
      </p:graphicFrame>
      <p:pic>
        <p:nvPicPr>
          <p:cNvPr id="11" name="Picture 9">
            <a:extLst>
              <a:ext uri="{FF2B5EF4-FFF2-40B4-BE49-F238E27FC236}">
                <a16:creationId xmlns:a16="http://schemas.microsoft.com/office/drawing/2014/main" id="{BF91E91A-A7CE-0592-4039-31AB66A6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17" y="4946258"/>
            <a:ext cx="248993" cy="242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2A8672-492F-8BDB-D5C7-C566476D9D1B}"/>
              </a:ext>
            </a:extLst>
          </p:cNvPr>
          <p:cNvSpPr txBox="1"/>
          <p:nvPr/>
        </p:nvSpPr>
        <p:spPr>
          <a:xfrm>
            <a:off x="4407408" y="4867587"/>
            <a:ext cx="8945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driver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FA56C7-DE0C-8699-3880-7BCA30853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309" y="5628311"/>
            <a:ext cx="4858428" cy="67636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B07BD85-A007-CBDA-9672-6E48CE493F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203"/>
          <a:stretch>
            <a:fillRect/>
          </a:stretch>
        </p:blipFill>
        <p:spPr>
          <a:xfrm>
            <a:off x="4097022" y="5594108"/>
            <a:ext cx="2735452" cy="744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1EFBB3-4F75-0534-4A65-FB6936AFF63D}"/>
              </a:ext>
            </a:extLst>
          </p:cNvPr>
          <p:cNvSpPr txBox="1"/>
          <p:nvPr/>
        </p:nvSpPr>
        <p:spPr>
          <a:xfrm>
            <a:off x="4375376" y="5195355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reset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의 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drive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횟수 카운트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72179-3399-C03A-5606-B0E0955026B9}"/>
              </a:ext>
            </a:extLst>
          </p:cNvPr>
          <p:cNvSpPr txBox="1"/>
          <p:nvPr/>
        </p:nvSpPr>
        <p:spPr>
          <a:xfrm>
            <a:off x="4375376" y="4492257"/>
            <a:ext cx="6272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Depth :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16 </a:t>
            </a:r>
            <a:r>
              <a:rPr lang="ko-KR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lang="ko-KR" altLang="en-US" sz="1600" b="1" dirty="0">
                <a:solidFill>
                  <a:srgbClr val="000000"/>
                </a:solidFill>
                <a:latin typeface="+mn-ea"/>
              </a:rPr>
              <a:t>회 상태 도달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+ 16</a:t>
            </a:r>
            <a:r>
              <a:rPr lang="ko-KR" altLang="en-US" sz="1600" b="1" dirty="0">
                <a:solidFill>
                  <a:srgbClr val="000000"/>
                </a:solidFill>
                <a:latin typeface="+mn-ea"/>
              </a:rPr>
              <a:t>회 경계 조건 확인</a:t>
            </a:r>
            <a:endParaRPr lang="ko-KR" altLang="ko-KR" sz="16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3390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EC37-B5CA-FA3C-2EDA-FC8D1D24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CCB901-BA06-F111-B79E-4045598B9411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58066E-23EB-8167-EEC0-F95D9EC8CE48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03. </a:t>
            </a:r>
            <a:r>
              <a:rPr lang="ko-KR" altLang="en-US" sz="2000" b="1" dirty="0">
                <a:latin typeface="+mj-ea"/>
                <a:ea typeface="+mj-ea"/>
              </a:rPr>
              <a:t>검증 결과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25FBAB-FD2B-959F-4632-0336FEC780B6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7DBED2-8E17-10E8-1268-F0E525FA8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08" y="1124713"/>
            <a:ext cx="7718200" cy="5401095"/>
          </a:xfrm>
          <a:prstGeom prst="rect">
            <a:avLst/>
          </a:prstGeom>
        </p:spPr>
      </p:pic>
      <p:sp>
        <p:nvSpPr>
          <p:cNvPr id="6" name="양쪽 대괄호 5">
            <a:extLst>
              <a:ext uri="{FF2B5EF4-FFF2-40B4-BE49-F238E27FC236}">
                <a16:creationId xmlns:a16="http://schemas.microsoft.com/office/drawing/2014/main" id="{DC609C03-8FCD-5794-D16F-358F1010E39D}"/>
              </a:ext>
            </a:extLst>
          </p:cNvPr>
          <p:cNvSpPr/>
          <p:nvPr/>
        </p:nvSpPr>
        <p:spPr>
          <a:xfrm>
            <a:off x="4763794" y="1419226"/>
            <a:ext cx="1924231" cy="1428749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303384-5049-D4D5-715E-919852A909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12"/>
          <a:stretch>
            <a:fillRect/>
          </a:stretch>
        </p:blipFill>
        <p:spPr>
          <a:xfrm>
            <a:off x="3738308" y="3524250"/>
            <a:ext cx="3362794" cy="2633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1C3D03-4961-1637-D512-8C3099611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237" y="3524250"/>
            <a:ext cx="3668689" cy="26339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376954-2D30-8A36-F0BD-9A3683760A6D}"/>
              </a:ext>
            </a:extLst>
          </p:cNvPr>
          <p:cNvSpPr txBox="1"/>
          <p:nvPr/>
        </p:nvSpPr>
        <p:spPr>
          <a:xfrm>
            <a:off x="3635883" y="3141730"/>
            <a:ext cx="2793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>
                <a:solidFill>
                  <a:srgbClr val="FF0000"/>
                </a:solidFill>
                <a:latin typeface="+mj-ea"/>
                <a:ea typeface="+mj-ea"/>
              </a:rPr>
              <a:t>rdata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DE0F8-1BD7-6875-7313-382B19D98E4A}"/>
              </a:ext>
            </a:extLst>
          </p:cNvPr>
          <p:cNvSpPr txBox="1"/>
          <p:nvPr/>
        </p:nvSpPr>
        <p:spPr>
          <a:xfrm>
            <a:off x="7588758" y="3122680"/>
            <a:ext cx="2793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>
                <a:solidFill>
                  <a:srgbClr val="FF0000"/>
                </a:solidFill>
                <a:latin typeface="+mj-ea"/>
                <a:ea typeface="+mj-ea"/>
              </a:rPr>
              <a:t>wdata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58121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74A28-4601-DF53-9EAA-32B58A75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C26347-8AD3-0EBA-7219-6036F2E0C14C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85C383-9A5C-C508-E019-0E956FF895B6}"/>
              </a:ext>
            </a:extLst>
          </p:cNvPr>
          <p:cNvSpPr/>
          <p:nvPr/>
        </p:nvSpPr>
        <p:spPr>
          <a:xfrm>
            <a:off x="749808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03. </a:t>
            </a:r>
            <a:r>
              <a:rPr lang="ko-KR" altLang="en-US" sz="2000" b="1" dirty="0">
                <a:latin typeface="+mj-ea"/>
                <a:ea typeface="+mj-ea"/>
              </a:rPr>
              <a:t>검증 결과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9F2CB9-FA20-638D-8052-E62E31A9F1AC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DFA9A2A-DFD6-D6AA-2CA0-260DBC9695BC}"/>
              </a:ext>
            </a:extLst>
          </p:cNvPr>
          <p:cNvGrpSpPr/>
          <p:nvPr/>
        </p:nvGrpSpPr>
        <p:grpSpPr>
          <a:xfrm>
            <a:off x="4011014" y="1042416"/>
            <a:ext cx="7718200" cy="5490274"/>
            <a:chOff x="548640" y="1034351"/>
            <a:chExt cx="7927465" cy="556313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3595285-E9C7-A154-ED9E-3CE78E17A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124713"/>
              <a:ext cx="7927465" cy="5472768"/>
            </a:xfrm>
            <a:prstGeom prst="rect">
              <a:avLst/>
            </a:prstGeom>
          </p:spPr>
        </p:pic>
        <p:sp>
          <p:nvSpPr>
            <p:cNvPr id="10" name="Text 1">
              <a:extLst>
                <a:ext uri="{FF2B5EF4-FFF2-40B4-BE49-F238E27FC236}">
                  <a16:creationId xmlns:a16="http://schemas.microsoft.com/office/drawing/2014/main" id="{3A0A7BFE-B11C-4EB2-EE3C-CB56BC150940}"/>
                </a:ext>
              </a:extLst>
            </p:cNvPr>
            <p:cNvSpPr/>
            <p:nvPr/>
          </p:nvSpPr>
          <p:spPr>
            <a:xfrm>
              <a:off x="6651498" y="1838324"/>
              <a:ext cx="520827" cy="3811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altLang="ko-KR" sz="2000" b="1" dirty="0">
                  <a:solidFill>
                    <a:srgbClr val="FF0000"/>
                  </a:solidFill>
                  <a:latin typeface="+mn-ea"/>
                </a:rPr>
                <a:t>1) </a:t>
              </a:r>
              <a:endParaRPr lang="en-US" sz="20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C935B75-620B-8352-3882-DCDA0F1EE921}"/>
                </a:ext>
              </a:extLst>
            </p:cNvPr>
            <p:cNvCxnSpPr>
              <a:cxnSpLocks/>
            </p:cNvCxnSpPr>
            <p:nvPr/>
          </p:nvCxnSpPr>
          <p:spPr>
            <a:xfrm>
              <a:off x="5076672" y="2114550"/>
              <a:ext cx="154625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170E0CD8-5AD4-FE16-9082-28D75AA613A2}"/>
                </a:ext>
              </a:extLst>
            </p:cNvPr>
            <p:cNvCxnSpPr>
              <a:cxnSpLocks/>
            </p:cNvCxnSpPr>
            <p:nvPr/>
          </p:nvCxnSpPr>
          <p:spPr>
            <a:xfrm>
              <a:off x="4962372" y="2857500"/>
              <a:ext cx="154625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63E6EE40-B996-9D47-B883-707AA67F3A07}"/>
                </a:ext>
              </a:extLst>
            </p:cNvPr>
            <p:cNvSpPr/>
            <p:nvPr/>
          </p:nvSpPr>
          <p:spPr>
            <a:xfrm>
              <a:off x="6594348" y="2577401"/>
              <a:ext cx="520827" cy="3811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altLang="ko-KR" sz="2000" b="1" dirty="0">
                  <a:solidFill>
                    <a:srgbClr val="FF0000"/>
                  </a:solidFill>
                  <a:latin typeface="+mn-ea"/>
                </a:rPr>
                <a:t>2) </a:t>
              </a:r>
              <a:endParaRPr lang="en-US" sz="20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54E20EB-E047-FC13-4A91-05E1DF245A6D}"/>
                </a:ext>
              </a:extLst>
            </p:cNvPr>
            <p:cNvCxnSpPr>
              <a:cxnSpLocks/>
            </p:cNvCxnSpPr>
            <p:nvPr/>
          </p:nvCxnSpPr>
          <p:spPr>
            <a:xfrm>
              <a:off x="5419572" y="1276350"/>
              <a:ext cx="163845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 1">
              <a:extLst>
                <a:ext uri="{FF2B5EF4-FFF2-40B4-BE49-F238E27FC236}">
                  <a16:creationId xmlns:a16="http://schemas.microsoft.com/office/drawing/2014/main" id="{9414F4E2-174A-F177-4A0F-EDC851720175}"/>
                </a:ext>
              </a:extLst>
            </p:cNvPr>
            <p:cNvSpPr/>
            <p:nvPr/>
          </p:nvSpPr>
          <p:spPr>
            <a:xfrm>
              <a:off x="7137273" y="1034351"/>
              <a:ext cx="520827" cy="3811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altLang="ko-KR" sz="2000" b="1" dirty="0">
                  <a:solidFill>
                    <a:srgbClr val="FF0000"/>
                  </a:solidFill>
                  <a:latin typeface="+mn-ea"/>
                </a:rPr>
                <a:t>2) </a:t>
              </a:r>
              <a:endParaRPr lang="en-US" sz="20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A63028C6-9474-5D3A-4293-CAC74887BBDC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" y="5124450"/>
              <a:ext cx="112776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1">
              <a:extLst>
                <a:ext uri="{FF2B5EF4-FFF2-40B4-BE49-F238E27FC236}">
                  <a16:creationId xmlns:a16="http://schemas.microsoft.com/office/drawing/2014/main" id="{D32B8337-DCDB-A5AC-5E82-193AADC531D2}"/>
                </a:ext>
              </a:extLst>
            </p:cNvPr>
            <p:cNvSpPr/>
            <p:nvPr/>
          </p:nvSpPr>
          <p:spPr>
            <a:xfrm>
              <a:off x="1746123" y="4897627"/>
              <a:ext cx="520827" cy="3811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altLang="ko-KR" sz="2000" b="1" dirty="0">
                  <a:solidFill>
                    <a:srgbClr val="FF0000"/>
                  </a:solidFill>
                  <a:latin typeface="+mn-ea"/>
                </a:rPr>
                <a:t>3) </a:t>
              </a:r>
              <a:endParaRPr lang="en-US" sz="2000" b="1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42" name="Text 1">
            <a:extLst>
              <a:ext uri="{FF2B5EF4-FFF2-40B4-BE49-F238E27FC236}">
                <a16:creationId xmlns:a16="http://schemas.microsoft.com/office/drawing/2014/main" id="{403C1EFD-E1CA-F9DB-CBB5-8C5496CF744D}"/>
              </a:ext>
            </a:extLst>
          </p:cNvPr>
          <p:cNvSpPr/>
          <p:nvPr/>
        </p:nvSpPr>
        <p:spPr>
          <a:xfrm>
            <a:off x="548640" y="1375941"/>
            <a:ext cx="3376215" cy="23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latin typeface="+mn-ea"/>
              </a:rPr>
              <a:t>1) </a:t>
            </a:r>
            <a:r>
              <a:rPr lang="en-US" altLang="ko-KR" sz="2000" b="1" dirty="0" err="1">
                <a:latin typeface="+mn-ea"/>
              </a:rPr>
              <a:t>cx_op_state</a:t>
            </a:r>
            <a:r>
              <a:rPr lang="en-US" altLang="ko-KR" sz="2000" b="1" dirty="0">
                <a:latin typeface="+mn-ea"/>
              </a:rPr>
              <a:t> : 100 % X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latin typeface="+mn-ea"/>
              </a:rPr>
              <a:t>2) reset count != skip count</a:t>
            </a:r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latin typeface="+mn-ea"/>
              </a:rPr>
              <a:t>3) UVM ERROR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4537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F9EA-5E33-27CD-5264-1F722298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3FE3A8-4C41-5B84-419F-9707CAE11F1A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57C0ED-639C-9D41-2868-BEDDA050115D}"/>
              </a:ext>
            </a:extLst>
          </p:cNvPr>
          <p:cNvSpPr/>
          <p:nvPr/>
        </p:nvSpPr>
        <p:spPr>
          <a:xfrm>
            <a:off x="749808" y="42128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04. </a:t>
            </a:r>
            <a:r>
              <a:rPr lang="ko-KR" altLang="en-US" sz="2000" b="1" dirty="0">
                <a:latin typeface="+mj-ea"/>
                <a:ea typeface="+mj-ea"/>
              </a:rPr>
              <a:t>트러블슈팅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4065E2-ACEB-D413-4D27-77461BD57F80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374D524-E001-1ACA-6309-BDFB9F5B17ED}"/>
              </a:ext>
            </a:extLst>
          </p:cNvPr>
          <p:cNvSpPr/>
          <p:nvPr/>
        </p:nvSpPr>
        <p:spPr>
          <a:xfrm>
            <a:off x="548640" y="1375941"/>
            <a:ext cx="3376215" cy="23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1) </a:t>
            </a:r>
            <a:r>
              <a:rPr lang="en-US" altLang="ko-KR" sz="2000" b="1" dirty="0" err="1">
                <a:solidFill>
                  <a:srgbClr val="FF0000"/>
                </a:solidFill>
                <a:latin typeface="+mn-ea"/>
              </a:rPr>
              <a:t>cx_op_state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 : 100 % X</a:t>
            </a:r>
          </a:p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latin typeface="+mn-ea"/>
              </a:rPr>
              <a:t>2) reset count != skip count</a:t>
            </a:r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  <a:p>
            <a:r>
              <a:rPr lang="en-US" sz="2000" b="1" dirty="0">
                <a:latin typeface="+mn-ea"/>
              </a:rPr>
              <a:t>3) UVM ERROR</a:t>
            </a: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endParaRPr lang="en-US" sz="2000" b="1" dirty="0">
              <a:latin typeface="+mn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920B47-B256-18B6-B7B8-FBBC4505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117" y="1877860"/>
            <a:ext cx="6277233" cy="39598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F0F5D6-85A7-8B73-849A-877359AA2983}"/>
              </a:ext>
            </a:extLst>
          </p:cNvPr>
          <p:cNvSpPr txBox="1"/>
          <p:nvPr/>
        </p:nvSpPr>
        <p:spPr>
          <a:xfrm>
            <a:off x="4407408" y="1370140"/>
            <a:ext cx="2793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(1) </a:t>
            </a:r>
            <a:r>
              <a:rPr lang="ko-KR" altLang="en-US" sz="2000" b="1" dirty="0">
                <a:latin typeface="+mj-ea"/>
                <a:ea typeface="+mj-ea"/>
              </a:rPr>
              <a:t>트러블</a:t>
            </a:r>
            <a:r>
              <a:rPr lang="en-US" altLang="ko-KR" sz="2000" b="1" dirty="0">
                <a:latin typeface="+mj-ea"/>
                <a:ea typeface="+mj-ea"/>
              </a:rPr>
              <a:t>&amp;</a:t>
            </a:r>
            <a:r>
              <a:rPr lang="ko-KR" altLang="en-US" sz="2000" b="1" dirty="0">
                <a:latin typeface="+mj-ea"/>
                <a:ea typeface="+mj-ea"/>
              </a:rPr>
              <a:t>발생원인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5DD767-86C4-100B-B6CE-4FEA97B5145D}"/>
              </a:ext>
            </a:extLst>
          </p:cNvPr>
          <p:cNvSpPr txBox="1"/>
          <p:nvPr/>
        </p:nvSpPr>
        <p:spPr>
          <a:xfrm>
            <a:off x="4454122" y="5897880"/>
            <a:ext cx="4432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1600" b="1" dirty="0">
                <a:latin typeface="+mj-ea"/>
                <a:ea typeface="+mj-ea"/>
              </a:rPr>
              <a:t>→ </a:t>
            </a:r>
            <a:r>
              <a:rPr lang="en-US" altLang="ko-KR" sz="1600" b="1" dirty="0">
                <a:latin typeface="+mj-ea"/>
                <a:ea typeface="+mj-ea"/>
              </a:rPr>
              <a:t>full = 1 , pop = 1 , push = 0 </a:t>
            </a:r>
            <a:r>
              <a:rPr lang="ko-KR" altLang="en-US" sz="1600" b="1" dirty="0">
                <a:latin typeface="+mj-ea"/>
                <a:ea typeface="+mj-ea"/>
              </a:rPr>
              <a:t>경우 확인 </a:t>
            </a:r>
            <a:r>
              <a:rPr lang="en-US" altLang="ko-KR" sz="1600" b="1" dirty="0">
                <a:latin typeface="+mj-ea"/>
                <a:ea typeface="+mj-ea"/>
              </a:rPr>
              <a:t>X</a:t>
            </a:r>
            <a:endParaRPr lang="ko-KR" altLang="en-US" sz="1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4551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DC9C-7012-5D70-71AD-53ECF70A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06FA6E-5178-BB61-6CE4-99E1E0A65311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4A9987-EF71-737F-0B2B-CEC8B2FBC66F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549C69-08C4-DD47-D88B-83EBFE7C5FE6}"/>
              </a:ext>
            </a:extLst>
          </p:cNvPr>
          <p:cNvSpPr txBox="1"/>
          <p:nvPr/>
        </p:nvSpPr>
        <p:spPr>
          <a:xfrm>
            <a:off x="548640" y="1078973"/>
            <a:ext cx="56898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1) </a:t>
            </a:r>
            <a:r>
              <a:rPr lang="en-US" altLang="ko-KR" sz="2000" b="1" dirty="0" err="1">
                <a:solidFill>
                  <a:srgbClr val="FF0000"/>
                </a:solidFill>
                <a:latin typeface="+mn-ea"/>
              </a:rPr>
              <a:t>cx_op_state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 : 100 % X</a:t>
            </a:r>
          </a:p>
          <a:p>
            <a:r>
              <a:rPr lang="en-US" altLang="ko-KR" sz="2000" b="1" dirty="0">
                <a:latin typeface="+mj-ea"/>
                <a:ea typeface="+mj-ea"/>
              </a:rPr>
              <a:t>	(2) </a:t>
            </a:r>
            <a:r>
              <a:rPr lang="ko-KR" altLang="en-US" sz="2000" b="1" dirty="0">
                <a:latin typeface="+mj-ea"/>
                <a:ea typeface="+mj-ea"/>
              </a:rPr>
              <a:t>해결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B63946-417B-4C8C-3499-4450F278DEE8}"/>
              </a:ext>
            </a:extLst>
          </p:cNvPr>
          <p:cNvSpPr txBox="1"/>
          <p:nvPr/>
        </p:nvSpPr>
        <p:spPr>
          <a:xfrm>
            <a:off x="11458422" y="2561569"/>
            <a:ext cx="285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0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42EC8-3EA2-CEBF-3437-C9395A94D3EF}"/>
              </a:ext>
            </a:extLst>
          </p:cNvPr>
          <p:cNvSpPr txBox="1"/>
          <p:nvPr/>
        </p:nvSpPr>
        <p:spPr>
          <a:xfrm>
            <a:off x="11458422" y="2798973"/>
            <a:ext cx="285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A6CF19E-460E-2B8A-6860-27BFC70E5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25" y="1786859"/>
            <a:ext cx="10642596" cy="262053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4CF93CF-0F49-7837-EEB0-99A79766F9A7}"/>
              </a:ext>
            </a:extLst>
          </p:cNvPr>
          <p:cNvSpPr txBox="1"/>
          <p:nvPr/>
        </p:nvSpPr>
        <p:spPr>
          <a:xfrm>
            <a:off x="10286847" y="2621250"/>
            <a:ext cx="324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0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A2B969-A547-EA14-78D1-B63B572DAE1C}"/>
              </a:ext>
            </a:extLst>
          </p:cNvPr>
          <p:cNvSpPr txBox="1"/>
          <p:nvPr/>
        </p:nvSpPr>
        <p:spPr>
          <a:xfrm>
            <a:off x="10286847" y="2919438"/>
            <a:ext cx="324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50" name="양쪽 대괄호 49">
            <a:extLst>
              <a:ext uri="{FF2B5EF4-FFF2-40B4-BE49-F238E27FC236}">
                <a16:creationId xmlns:a16="http://schemas.microsoft.com/office/drawing/2014/main" id="{6973C6E0-1B13-02A9-CCD1-84C3683E9AE9}"/>
              </a:ext>
            </a:extLst>
          </p:cNvPr>
          <p:cNvSpPr/>
          <p:nvPr/>
        </p:nvSpPr>
        <p:spPr>
          <a:xfrm>
            <a:off x="2324100" y="2266950"/>
            <a:ext cx="600075" cy="1762125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3F9DC98-9659-D391-99AE-188961EC6100}"/>
              </a:ext>
            </a:extLst>
          </p:cNvPr>
          <p:cNvCxnSpPr>
            <a:cxnSpLocks/>
          </p:cNvCxnSpPr>
          <p:nvPr/>
        </p:nvCxnSpPr>
        <p:spPr>
          <a:xfrm>
            <a:off x="3953076" y="2866029"/>
            <a:ext cx="561002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94E241F4-71E0-AF26-4267-974736BDD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322705"/>
              </p:ext>
            </p:extLst>
          </p:nvPr>
        </p:nvGraphicFramePr>
        <p:xfrm>
          <a:off x="614325" y="4509166"/>
          <a:ext cx="3040474" cy="1857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172">
                  <a:extLst>
                    <a:ext uri="{9D8B030D-6E8A-4147-A177-3AD203B41FA5}">
                      <a16:colId xmlns:a16="http://schemas.microsoft.com/office/drawing/2014/main" val="2939243696"/>
                    </a:ext>
                  </a:extLst>
                </a:gridCol>
                <a:gridCol w="1761302">
                  <a:extLst>
                    <a:ext uri="{9D8B030D-6E8A-4147-A177-3AD203B41FA5}">
                      <a16:colId xmlns:a16="http://schemas.microsoft.com/office/drawing/2014/main" val="3598175634"/>
                    </a:ext>
                  </a:extLst>
                </a:gridCol>
              </a:tblGrid>
              <a:tr h="371411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full : 1 / push : 0 / pop : 1</a:t>
                      </a:r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8271"/>
                  </a:ext>
                </a:extLst>
              </a:tr>
              <a:tr h="37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wdata</a:t>
                      </a:r>
                      <a:endParaRPr lang="ko-KR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f 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f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835281"/>
                  </a:ext>
                </a:extLst>
              </a:tr>
              <a:tr h="37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 err="1">
                          <a:latin typeface="+mn-ea"/>
                          <a:ea typeface="+mn-ea"/>
                        </a:rPr>
                        <a:t>rdata</a:t>
                      </a:r>
                      <a:endParaRPr lang="ko-KR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0 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600984"/>
                  </a:ext>
                </a:extLst>
              </a:tr>
              <a:tr h="37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full</a:t>
                      </a:r>
                      <a:endParaRPr lang="ko-KR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 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36034"/>
                  </a:ext>
                </a:extLst>
              </a:tr>
              <a:tr h="37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b="1" dirty="0">
                          <a:latin typeface="+mn-ea"/>
                          <a:ea typeface="+mn-ea"/>
                        </a:rPr>
                        <a:t>empty</a:t>
                      </a:r>
                      <a:endParaRPr lang="ko-KR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0 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6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978326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D492F069-1235-CE70-671F-E076997661F9}"/>
              </a:ext>
            </a:extLst>
          </p:cNvPr>
          <p:cNvSpPr txBox="1"/>
          <p:nvPr/>
        </p:nvSpPr>
        <p:spPr>
          <a:xfrm>
            <a:off x="10286847" y="3508090"/>
            <a:ext cx="324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F7ED69DA-5F13-DEFA-8C48-BAE6500E323E}"/>
              </a:ext>
            </a:extLst>
          </p:cNvPr>
          <p:cNvSpPr/>
          <p:nvPr/>
        </p:nvSpPr>
        <p:spPr>
          <a:xfrm>
            <a:off x="749808" y="42128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04. </a:t>
            </a:r>
            <a:r>
              <a:rPr lang="ko-KR" altLang="en-US" sz="2000" b="1" dirty="0">
                <a:latin typeface="+mj-ea"/>
                <a:ea typeface="+mj-ea"/>
              </a:rPr>
              <a:t>트러블슈팅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78B8F-D3DD-94E0-75EF-3B0D073249B8}"/>
              </a:ext>
            </a:extLst>
          </p:cNvPr>
          <p:cNvSpPr txBox="1"/>
          <p:nvPr/>
        </p:nvSpPr>
        <p:spPr>
          <a:xfrm>
            <a:off x="7548372" y="4511316"/>
            <a:ext cx="34280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FIFO</a:t>
            </a:r>
            <a:r>
              <a:rPr lang="ko-KR" altLang="en-US" sz="1600" b="1" dirty="0">
                <a:latin typeface="+mj-ea"/>
                <a:ea typeface="+mj-ea"/>
              </a:rPr>
              <a:t> 설계에 문제가 없음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</a:p>
          <a:p>
            <a:r>
              <a:rPr lang="ko-KR" altLang="ko-KR" sz="1600" b="1" dirty="0">
                <a:latin typeface="+mj-ea"/>
                <a:ea typeface="+mj-ea"/>
              </a:rPr>
              <a:t>→ </a:t>
            </a:r>
            <a:r>
              <a:rPr lang="en-US" altLang="ko-KR" sz="1600" b="1" dirty="0" err="1">
                <a:latin typeface="+mj-ea"/>
                <a:ea typeface="+mj-ea"/>
              </a:rPr>
              <a:t>normal_seq</a:t>
            </a:r>
            <a:r>
              <a:rPr lang="en-US" altLang="ko-KR" sz="1600" b="1" dirty="0">
                <a:latin typeface="+mj-ea"/>
                <a:ea typeface="+mj-ea"/>
              </a:rPr>
              <a:t> 2000</a:t>
            </a:r>
            <a:r>
              <a:rPr lang="ko-KR" altLang="en-US" sz="1600" b="1" dirty="0">
                <a:latin typeface="+mj-ea"/>
                <a:ea typeface="+mj-ea"/>
              </a:rPr>
              <a:t>회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r>
              <a:rPr lang="ko-KR" altLang="ko-KR" sz="1600" b="1" dirty="0">
                <a:latin typeface="+mj-ea"/>
                <a:ea typeface="+mj-ea"/>
              </a:rPr>
              <a:t>→</a:t>
            </a:r>
            <a:r>
              <a:rPr lang="en-US" altLang="ko-KR" sz="1600" b="1" dirty="0">
                <a:latin typeface="+mj-ea"/>
                <a:ea typeface="+mj-ea"/>
              </a:rPr>
              <a:t> 5000</a:t>
            </a:r>
            <a:r>
              <a:rPr lang="ko-KR" altLang="en-US" sz="1600" b="1" dirty="0">
                <a:latin typeface="+mj-ea"/>
                <a:ea typeface="+mj-ea"/>
              </a:rPr>
              <a:t>회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endParaRPr lang="ko-KR" altLang="en-US" sz="1600" b="1" dirty="0"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F1F2043-C114-332F-67B9-34B9E87C2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215" y="4511316"/>
            <a:ext cx="3324561" cy="1854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2F8460-6AF4-DA77-2650-877FA299BCB7}"/>
              </a:ext>
            </a:extLst>
          </p:cNvPr>
          <p:cNvSpPr txBox="1"/>
          <p:nvPr/>
        </p:nvSpPr>
        <p:spPr>
          <a:xfrm>
            <a:off x="728472" y="6518621"/>
            <a:ext cx="2247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1600" b="1" dirty="0">
                <a:latin typeface="+mj-ea"/>
                <a:ea typeface="+mj-ea"/>
              </a:rPr>
              <a:t>→ </a:t>
            </a:r>
            <a:r>
              <a:rPr lang="ko-KR" altLang="en-US" sz="1600" b="1" dirty="0">
                <a:latin typeface="+mj-ea"/>
                <a:ea typeface="+mj-ea"/>
              </a:rPr>
              <a:t>정상 동작함을 확인</a:t>
            </a:r>
          </a:p>
        </p:txBody>
      </p:sp>
    </p:spTree>
    <p:extLst>
      <p:ext uri="{BB962C8B-B14F-4D97-AF65-F5344CB8AC3E}">
        <p14:creationId xmlns:p14="http://schemas.microsoft.com/office/powerpoint/2010/main" val="1132039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953-F7EC-E905-97BB-837F80C8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834989-B0F7-A987-D512-051556A6DF24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6860B6A-EE43-FEEC-BB2D-F337CEF6B8CB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8641322-F9A4-B2F7-EA09-FE9645745998}"/>
              </a:ext>
            </a:extLst>
          </p:cNvPr>
          <p:cNvSpPr/>
          <p:nvPr/>
        </p:nvSpPr>
        <p:spPr>
          <a:xfrm>
            <a:off x="645033" y="402813"/>
            <a:ext cx="3376215" cy="23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solidFill>
                  <a:srgbClr val="FF0000"/>
                </a:solidFill>
                <a:latin typeface="+mn-ea"/>
              </a:rPr>
              <a:t>2) reset count != skip count</a:t>
            </a:r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71A703-DEA2-09BF-2A8A-3F6C04EF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7"/>
          <a:stretch>
            <a:fillRect/>
          </a:stretch>
        </p:blipFill>
        <p:spPr>
          <a:xfrm>
            <a:off x="946404" y="1797255"/>
            <a:ext cx="4066185" cy="192702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7B0D0B9-21DB-822A-56E9-5CE30CD7F1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300"/>
          <a:stretch>
            <a:fillRect/>
          </a:stretch>
        </p:blipFill>
        <p:spPr>
          <a:xfrm>
            <a:off x="946404" y="4177859"/>
            <a:ext cx="3892296" cy="18527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4702CD-4419-0C07-8C65-297A30ABB573}"/>
              </a:ext>
            </a:extLst>
          </p:cNvPr>
          <p:cNvSpPr txBox="1"/>
          <p:nvPr/>
        </p:nvSpPr>
        <p:spPr>
          <a:xfrm>
            <a:off x="891540" y="37929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</a:rPr>
              <a:t>b. </a:t>
            </a:r>
            <a:r>
              <a:rPr lang="en-US" altLang="ko-KR" b="1" dirty="0" err="1">
                <a:latin typeface="+mj-ea"/>
              </a:rPr>
              <a:t>nomal_seq</a:t>
            </a:r>
            <a:r>
              <a:rPr lang="en-US" altLang="ko-KR" b="1" dirty="0">
                <a:latin typeface="+mj-ea"/>
              </a:rPr>
              <a:t> (reset X)</a:t>
            </a:r>
            <a:endParaRPr lang="en-US" altLang="ko-KR" b="1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E86021-DBE2-C422-1C11-BC43BBEE281B}"/>
              </a:ext>
            </a:extLst>
          </p:cNvPr>
          <p:cNvSpPr txBox="1"/>
          <p:nvPr/>
        </p:nvSpPr>
        <p:spPr>
          <a:xfrm>
            <a:off x="891540" y="1442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</a:rPr>
              <a:t>a. </a:t>
            </a:r>
            <a:r>
              <a:rPr lang="en-US" altLang="ko-KR" b="1" dirty="0" err="1">
                <a:latin typeface="+mj-ea"/>
              </a:rPr>
              <a:t>nomal_seq</a:t>
            </a:r>
            <a:r>
              <a:rPr lang="en-US" altLang="ko-KR" b="1" dirty="0">
                <a:latin typeface="+mj-ea"/>
              </a:rPr>
              <a:t> (reset X), </a:t>
            </a:r>
            <a:r>
              <a:rPr lang="en-US" altLang="ko-KR" b="1" dirty="0" err="1">
                <a:latin typeface="+mj-ea"/>
              </a:rPr>
              <a:t>reset_seq</a:t>
            </a:r>
            <a:r>
              <a:rPr lang="en-US" altLang="ko-KR" b="1" dirty="0">
                <a:latin typeface="+mj-ea"/>
              </a:rPr>
              <a:t> X</a:t>
            </a:r>
            <a:endParaRPr lang="ko-KR" altLang="en-US" sz="16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65504DF-2C05-BD10-FC6F-1941235C9CE4}"/>
              </a:ext>
            </a:extLst>
          </p:cNvPr>
          <p:cNvGrpSpPr/>
          <p:nvPr/>
        </p:nvGrpSpPr>
        <p:grpSpPr>
          <a:xfrm>
            <a:off x="5430904" y="3401408"/>
            <a:ext cx="4627495" cy="2586155"/>
            <a:chOff x="5088005" y="4250748"/>
            <a:chExt cx="4693374" cy="2408700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6B4083D9-DE45-9F0B-E523-DA7D6BDE9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8005" y="4250748"/>
              <a:ext cx="4693374" cy="2408700"/>
            </a:xfrm>
            <a:prstGeom prst="rect">
              <a:avLst/>
            </a:prstGeom>
          </p:spPr>
        </p:pic>
        <p:sp>
          <p:nvSpPr>
            <p:cNvPr id="25" name="양쪽 대괄호 24">
              <a:extLst>
                <a:ext uri="{FF2B5EF4-FFF2-40B4-BE49-F238E27FC236}">
                  <a16:creationId xmlns:a16="http://schemas.microsoft.com/office/drawing/2014/main" id="{184BDAD1-139A-54A0-6322-871B6BAC794D}"/>
                </a:ext>
              </a:extLst>
            </p:cNvPr>
            <p:cNvSpPr/>
            <p:nvPr/>
          </p:nvSpPr>
          <p:spPr>
            <a:xfrm>
              <a:off x="6107379" y="6242960"/>
              <a:ext cx="318701" cy="400111"/>
            </a:xfrm>
            <a:prstGeom prst="bracketPair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양쪽 대괄호 28">
              <a:extLst>
                <a:ext uri="{FF2B5EF4-FFF2-40B4-BE49-F238E27FC236}">
                  <a16:creationId xmlns:a16="http://schemas.microsoft.com/office/drawing/2014/main" id="{6AA16247-5DF3-8360-9D23-1C13C1431E87}"/>
                </a:ext>
              </a:extLst>
            </p:cNvPr>
            <p:cNvSpPr/>
            <p:nvPr/>
          </p:nvSpPr>
          <p:spPr>
            <a:xfrm>
              <a:off x="6415648" y="4654704"/>
              <a:ext cx="866775" cy="400111"/>
            </a:xfrm>
            <a:prstGeom prst="bracketPair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7FDC67A-BFE0-9AC7-327E-2FAF78C8F7C1}"/>
              </a:ext>
            </a:extLst>
          </p:cNvPr>
          <p:cNvGrpSpPr/>
          <p:nvPr/>
        </p:nvGrpSpPr>
        <p:grpSpPr>
          <a:xfrm>
            <a:off x="5430904" y="712629"/>
            <a:ext cx="4750587" cy="2586155"/>
            <a:chOff x="5088004" y="1618911"/>
            <a:chExt cx="4686954" cy="242921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5E60F2E-C8E8-08AF-50CB-3AD62A0DA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8004" y="1618911"/>
              <a:ext cx="4686954" cy="2429214"/>
            </a:xfrm>
            <a:prstGeom prst="rect">
              <a:avLst/>
            </a:prstGeom>
          </p:spPr>
        </p:pic>
        <p:sp>
          <p:nvSpPr>
            <p:cNvPr id="27" name="양쪽 대괄호 26">
              <a:extLst>
                <a:ext uri="{FF2B5EF4-FFF2-40B4-BE49-F238E27FC236}">
                  <a16:creationId xmlns:a16="http://schemas.microsoft.com/office/drawing/2014/main" id="{BD77677D-467F-C0B9-EB56-C31572F81948}"/>
                </a:ext>
              </a:extLst>
            </p:cNvPr>
            <p:cNvSpPr/>
            <p:nvPr/>
          </p:nvSpPr>
          <p:spPr>
            <a:xfrm>
              <a:off x="6415648" y="2073081"/>
              <a:ext cx="866775" cy="400111"/>
            </a:xfrm>
            <a:prstGeom prst="bracketPair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양쪽 대괄호 30">
              <a:extLst>
                <a:ext uri="{FF2B5EF4-FFF2-40B4-BE49-F238E27FC236}">
                  <a16:creationId xmlns:a16="http://schemas.microsoft.com/office/drawing/2014/main" id="{475EFB76-3664-CAE5-8F36-4B68232A738C}"/>
                </a:ext>
              </a:extLst>
            </p:cNvPr>
            <p:cNvSpPr/>
            <p:nvPr/>
          </p:nvSpPr>
          <p:spPr>
            <a:xfrm>
              <a:off x="6066067" y="3643110"/>
              <a:ext cx="349582" cy="400111"/>
            </a:xfrm>
            <a:prstGeom prst="bracketPair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1">
            <a:extLst>
              <a:ext uri="{FF2B5EF4-FFF2-40B4-BE49-F238E27FC236}">
                <a16:creationId xmlns:a16="http://schemas.microsoft.com/office/drawing/2014/main" id="{B7649D33-6608-D96A-657E-A0A172D089B7}"/>
              </a:ext>
            </a:extLst>
          </p:cNvPr>
          <p:cNvSpPr/>
          <p:nvPr/>
        </p:nvSpPr>
        <p:spPr>
          <a:xfrm>
            <a:off x="749808" y="42128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04. </a:t>
            </a:r>
            <a:r>
              <a:rPr lang="ko-KR" altLang="en-US" sz="2000" b="1" dirty="0">
                <a:latin typeface="+mj-ea"/>
                <a:ea typeface="+mj-ea"/>
              </a:rPr>
              <a:t>트러블슈팅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62B98-1CA5-5001-E0B7-3DCF47149DB9}"/>
              </a:ext>
            </a:extLst>
          </p:cNvPr>
          <p:cNvSpPr txBox="1"/>
          <p:nvPr/>
        </p:nvSpPr>
        <p:spPr>
          <a:xfrm>
            <a:off x="5410335" y="6051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clocking drive timing </a:t>
            </a:r>
            <a:r>
              <a:rPr lang="ko-KR" altLang="en-US" b="1" dirty="0">
                <a:latin typeface="+mj-ea"/>
                <a:ea typeface="+mj-ea"/>
              </a:rPr>
              <a:t>문제를 확인</a:t>
            </a:r>
          </a:p>
        </p:txBody>
      </p:sp>
    </p:spTree>
    <p:extLst>
      <p:ext uri="{BB962C8B-B14F-4D97-AF65-F5344CB8AC3E}">
        <p14:creationId xmlns:p14="http://schemas.microsoft.com/office/powerpoint/2010/main" val="557836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9D97-BEA4-637A-FC36-1A0E0110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401765-2DE3-6D2F-4C0E-D5E3224D1D87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45B1C2-457A-6BA1-1B73-1A033E80EF1A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1724F39-1B01-AF13-75FB-0CE462D80B01}"/>
              </a:ext>
            </a:extLst>
          </p:cNvPr>
          <p:cNvSpPr/>
          <p:nvPr/>
        </p:nvSpPr>
        <p:spPr>
          <a:xfrm>
            <a:off x="632079" y="411757"/>
            <a:ext cx="3376215" cy="23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solidFill>
                  <a:srgbClr val="FF0000"/>
                </a:solidFill>
                <a:latin typeface="+mn-ea"/>
              </a:rPr>
              <a:t>3)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UVM ERROR</a:t>
            </a:r>
          </a:p>
          <a:p>
            <a:r>
              <a:rPr lang="en-US" altLang="ko-KR" sz="2000" b="1" dirty="0">
                <a:latin typeface="+mn-ea"/>
              </a:rPr>
              <a:t>	</a:t>
            </a:r>
            <a:endParaRPr lang="ko-KR" altLang="en-US" sz="2000" b="1" dirty="0">
              <a:latin typeface="+mj-ea"/>
            </a:endParaRPr>
          </a:p>
          <a:p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A26F97-9767-A6E2-71D1-D93C93705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6283"/>
            <a:ext cx="11094415" cy="2302114"/>
          </a:xfrm>
          <a:prstGeom prst="rect">
            <a:avLst/>
          </a:prstGeom>
        </p:spPr>
      </p:pic>
      <p:sp>
        <p:nvSpPr>
          <p:cNvPr id="7" name="양쪽 대괄호 6">
            <a:extLst>
              <a:ext uri="{FF2B5EF4-FFF2-40B4-BE49-F238E27FC236}">
                <a16:creationId xmlns:a16="http://schemas.microsoft.com/office/drawing/2014/main" id="{67779B1E-0F3C-2BC2-FFEB-0C99B08E586B}"/>
              </a:ext>
            </a:extLst>
          </p:cNvPr>
          <p:cNvSpPr/>
          <p:nvPr/>
        </p:nvSpPr>
        <p:spPr>
          <a:xfrm>
            <a:off x="520065" y="1753425"/>
            <a:ext cx="6929628" cy="685615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D2BBD9-A5A2-5BDD-B602-2A11647BD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55539"/>
            <a:ext cx="5378630" cy="15772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DAE4C98-419E-4ADA-908F-6C6CBCCA0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572" y="4113601"/>
            <a:ext cx="4734078" cy="2216231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7019A0E7-0ABA-2377-2E94-FB508D31FADB}"/>
              </a:ext>
            </a:extLst>
          </p:cNvPr>
          <p:cNvSpPr/>
          <p:nvPr/>
        </p:nvSpPr>
        <p:spPr>
          <a:xfrm>
            <a:off x="749808" y="42128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04. </a:t>
            </a:r>
            <a:r>
              <a:rPr lang="ko-KR" altLang="en-US" sz="2000" b="1" dirty="0">
                <a:latin typeface="+mj-ea"/>
                <a:ea typeface="+mj-ea"/>
              </a:rPr>
              <a:t>트러블슈팅</a:t>
            </a:r>
            <a:endParaRPr lang="en-US" sz="2000" b="1" dirty="0">
              <a:latin typeface="+mj-ea"/>
              <a:ea typeface="+mj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F834616-DF84-EE6A-CF61-DD317E28DCDF}"/>
              </a:ext>
            </a:extLst>
          </p:cNvPr>
          <p:cNvCxnSpPr>
            <a:cxnSpLocks/>
          </p:cNvCxnSpPr>
          <p:nvPr/>
        </p:nvCxnSpPr>
        <p:spPr>
          <a:xfrm>
            <a:off x="5793635" y="2336864"/>
            <a:ext cx="150543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A2B66C4-1679-A37D-F4C1-E51A26C47F98}"/>
              </a:ext>
            </a:extLst>
          </p:cNvPr>
          <p:cNvSpPr txBox="1"/>
          <p:nvPr/>
        </p:nvSpPr>
        <p:spPr>
          <a:xfrm>
            <a:off x="6181572" y="63298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clocking drive timing </a:t>
            </a:r>
            <a:r>
              <a:rPr lang="ko-KR" altLang="en-US" b="1" dirty="0">
                <a:latin typeface="+mj-ea"/>
                <a:ea typeface="+mj-ea"/>
              </a:rPr>
              <a:t>문제를 확인</a:t>
            </a:r>
          </a:p>
        </p:txBody>
      </p:sp>
    </p:spTree>
    <p:extLst>
      <p:ext uri="{BB962C8B-B14F-4D97-AF65-F5344CB8AC3E}">
        <p14:creationId xmlns:p14="http://schemas.microsoft.com/office/powerpoint/2010/main" val="3299958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6DC9-E29C-21D1-6C09-A3C82DE8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6C9E9D-337C-23F4-A6A4-96FD7AEDC7A8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511CDCF-43B1-641F-FE48-ABBB539D4F23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00A4A10-8DD0-FD78-A36B-D785188F3AE3}"/>
              </a:ext>
            </a:extLst>
          </p:cNvPr>
          <p:cNvSpPr/>
          <p:nvPr/>
        </p:nvSpPr>
        <p:spPr>
          <a:xfrm>
            <a:off x="645033" y="647591"/>
            <a:ext cx="3376215" cy="23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latin typeface="+mn-ea"/>
              </a:rPr>
              <a:t>	</a:t>
            </a:r>
          </a:p>
          <a:p>
            <a:r>
              <a:rPr lang="en-US" sz="2000" b="1" dirty="0">
                <a:solidFill>
                  <a:srgbClr val="FF0000"/>
                </a:solidFill>
                <a:latin typeface="+mn-ea"/>
              </a:rPr>
              <a:t>2) reset count != skip count</a:t>
            </a:r>
          </a:p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3) UVM ERROR</a:t>
            </a:r>
          </a:p>
          <a:p>
            <a:endParaRPr lang="en-US" altLang="ko-KR" sz="2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	</a:t>
            </a:r>
          </a:p>
          <a:p>
            <a:endParaRPr lang="en-US" altLang="ko-KR" sz="2000" b="1" dirty="0">
              <a:latin typeface="+mn-ea"/>
            </a:endParaRPr>
          </a:p>
          <a:p>
            <a:endParaRPr lang="en-US" sz="2000" b="1" dirty="0">
              <a:latin typeface="+mn-ea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CDD57B97-7E93-F21F-DE29-9030752209C1}"/>
              </a:ext>
            </a:extLst>
          </p:cNvPr>
          <p:cNvSpPr/>
          <p:nvPr/>
        </p:nvSpPr>
        <p:spPr>
          <a:xfrm>
            <a:off x="749808" y="42128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04. </a:t>
            </a:r>
            <a:r>
              <a:rPr lang="ko-KR" altLang="en-US" sz="2000" b="1" dirty="0">
                <a:latin typeface="+mj-ea"/>
                <a:ea typeface="+mj-ea"/>
              </a:rPr>
              <a:t>트러블슈팅</a:t>
            </a:r>
            <a:endParaRPr lang="en-US" sz="2000" b="1" dirty="0"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66A80F-2724-BE39-9CF4-E2F64A50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46" y="2339624"/>
            <a:ext cx="4506015" cy="14195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1B1E2A-7288-BC41-2BB3-7BDB556968F0}"/>
              </a:ext>
            </a:extLst>
          </p:cNvPr>
          <p:cNvSpPr txBox="1"/>
          <p:nvPr/>
        </p:nvSpPr>
        <p:spPr>
          <a:xfrm>
            <a:off x="891540" y="1939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</a:rPr>
              <a:t>a. </a:t>
            </a:r>
            <a:r>
              <a:rPr lang="ko-KR" altLang="en-US" b="1" dirty="0">
                <a:latin typeface="+mj-ea"/>
              </a:rPr>
              <a:t>기존 </a:t>
            </a:r>
            <a:r>
              <a:rPr lang="en-US" altLang="ko-KR" b="1" dirty="0">
                <a:latin typeface="+mj-ea"/>
              </a:rPr>
              <a:t>clocking timing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8A6C4-5B51-0C0B-6516-CFC9E849007D}"/>
              </a:ext>
            </a:extLst>
          </p:cNvPr>
          <p:cNvSpPr txBox="1"/>
          <p:nvPr/>
        </p:nvSpPr>
        <p:spPr>
          <a:xfrm>
            <a:off x="891540" y="39882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</a:rPr>
              <a:t>b. </a:t>
            </a:r>
            <a:r>
              <a:rPr lang="ko-KR" altLang="en-US" b="1" dirty="0">
                <a:latin typeface="+mj-ea"/>
              </a:rPr>
              <a:t>변경 </a:t>
            </a:r>
            <a:r>
              <a:rPr lang="en-US" altLang="ko-KR" b="1" dirty="0">
                <a:latin typeface="+mj-ea"/>
              </a:rPr>
              <a:t>clocking timing</a:t>
            </a:r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E1D8798-9AF4-8731-911B-B7A9DAFC7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341238"/>
            <a:ext cx="4451151" cy="19726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B727392-8E1A-E3E3-69E6-E79C4436FDCA}"/>
              </a:ext>
            </a:extLst>
          </p:cNvPr>
          <p:cNvSpPr txBox="1"/>
          <p:nvPr/>
        </p:nvSpPr>
        <p:spPr>
          <a:xfrm>
            <a:off x="6210300" y="31145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reset count = skip count </a:t>
            </a:r>
            <a:r>
              <a:rPr lang="ko-KR" altLang="en-US" b="1" dirty="0">
                <a:latin typeface="+mj-ea"/>
                <a:ea typeface="+mj-ea"/>
              </a:rPr>
              <a:t>해결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br>
              <a:rPr lang="en-US" altLang="ko-KR" b="1" dirty="0">
                <a:latin typeface="+mj-ea"/>
                <a:ea typeface="+mj-ea"/>
              </a:rPr>
            </a:b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3E165C9-C27E-3741-D155-E48611BC9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155" y="1121525"/>
            <a:ext cx="2974145" cy="19688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FB9B2B1-9801-A54A-5020-9D795797EC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155" y="3510345"/>
            <a:ext cx="2333625" cy="26098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FF705C8-E68F-B64D-A4E7-28426BE30DDC}"/>
              </a:ext>
            </a:extLst>
          </p:cNvPr>
          <p:cNvSpPr txBox="1"/>
          <p:nvPr/>
        </p:nvSpPr>
        <p:spPr>
          <a:xfrm>
            <a:off x="6284155" y="6133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latin typeface="+mj-ea"/>
                <a:ea typeface="+mj-ea"/>
              </a:rPr>
              <a:t>uvm_error</a:t>
            </a:r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해결</a:t>
            </a:r>
          </a:p>
        </p:txBody>
      </p:sp>
      <p:sp>
        <p:nvSpPr>
          <p:cNvPr id="32" name="양쪽 대괄호 31">
            <a:extLst>
              <a:ext uri="{FF2B5EF4-FFF2-40B4-BE49-F238E27FC236}">
                <a16:creationId xmlns:a16="http://schemas.microsoft.com/office/drawing/2014/main" id="{CE295AD5-3BCA-BA86-6679-32D647FD7339}"/>
              </a:ext>
            </a:extLst>
          </p:cNvPr>
          <p:cNvSpPr/>
          <p:nvPr/>
        </p:nvSpPr>
        <p:spPr>
          <a:xfrm>
            <a:off x="6312606" y="4176063"/>
            <a:ext cx="1407039" cy="191552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양쪽 대괄호 34">
            <a:extLst>
              <a:ext uri="{FF2B5EF4-FFF2-40B4-BE49-F238E27FC236}">
                <a16:creationId xmlns:a16="http://schemas.microsoft.com/office/drawing/2014/main" id="{B8DD3C16-A053-F653-E560-C6C0B38A80B8}"/>
              </a:ext>
            </a:extLst>
          </p:cNvPr>
          <p:cNvSpPr/>
          <p:nvPr/>
        </p:nvSpPr>
        <p:spPr>
          <a:xfrm>
            <a:off x="6649645" y="2772225"/>
            <a:ext cx="1579955" cy="120444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양쪽 대괄호 36">
            <a:extLst>
              <a:ext uri="{FF2B5EF4-FFF2-40B4-BE49-F238E27FC236}">
                <a16:creationId xmlns:a16="http://schemas.microsoft.com/office/drawing/2014/main" id="{3CFCF78C-62B4-1DBE-FD3C-9C4A4045BBE9}"/>
              </a:ext>
            </a:extLst>
          </p:cNvPr>
          <p:cNvSpPr/>
          <p:nvPr/>
        </p:nvSpPr>
        <p:spPr>
          <a:xfrm>
            <a:off x="6916345" y="1166162"/>
            <a:ext cx="2377124" cy="143891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529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5E6B-A175-DDD6-0623-C661718C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2BAAF9-ABD0-119D-7134-7D71F0B3E13B}"/>
              </a:ext>
            </a:extLst>
          </p:cNvPr>
          <p:cNvSpPr/>
          <p:nvPr/>
        </p:nvSpPr>
        <p:spPr>
          <a:xfrm>
            <a:off x="548640" y="502920"/>
            <a:ext cx="54864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A9ADCB-315B-9BCD-7B8F-49FAADF08F6D}"/>
              </a:ext>
            </a:extLst>
          </p:cNvPr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DB82003-67BF-1304-B7CC-123C1BE34F91}"/>
              </a:ext>
            </a:extLst>
          </p:cNvPr>
          <p:cNvSpPr/>
          <p:nvPr/>
        </p:nvSpPr>
        <p:spPr>
          <a:xfrm>
            <a:off x="749808" y="42128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>
                <a:latin typeface="+mj-ea"/>
                <a:ea typeface="+mj-ea"/>
              </a:rPr>
              <a:t>05. </a:t>
            </a:r>
            <a:r>
              <a:rPr lang="ko-KR" altLang="en-US" sz="2000" b="1" dirty="0">
                <a:latin typeface="+mj-ea"/>
                <a:ea typeface="+mj-ea"/>
              </a:rPr>
              <a:t>결론 및 고찰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92E8F7A8-3262-752E-54A9-AD90AB7AD089}"/>
              </a:ext>
            </a:extLst>
          </p:cNvPr>
          <p:cNvSpPr/>
          <p:nvPr/>
        </p:nvSpPr>
        <p:spPr>
          <a:xfrm>
            <a:off x="344541" y="1463041"/>
            <a:ext cx="11847459" cy="4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1) </a:t>
            </a:r>
            <a:r>
              <a:rPr lang="ko-KR" altLang="en-US" sz="2000" b="1" dirty="0">
                <a:latin typeface="+mn-ea"/>
              </a:rPr>
              <a:t>결론</a:t>
            </a:r>
            <a:endParaRPr lang="en-US" altLang="ko-KR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	(1) </a:t>
            </a:r>
            <a:r>
              <a:rPr lang="ko-KR" altLang="ko-KR" sz="2000" b="1" dirty="0">
                <a:latin typeface="+mn-ea"/>
              </a:rPr>
              <a:t>UVM 기반으로 </a:t>
            </a:r>
            <a:r>
              <a:rPr lang="ko-KR" altLang="ko-KR" sz="2000" b="1" dirty="0" err="1">
                <a:latin typeface="+mn-ea"/>
              </a:rPr>
              <a:t>FIFO의</a:t>
            </a:r>
            <a:r>
              <a:rPr lang="ko-KR" altLang="ko-KR" sz="2000" b="1" dirty="0">
                <a:latin typeface="+mn-ea"/>
              </a:rPr>
              <a:t> 주요 동작과 </a:t>
            </a:r>
            <a:r>
              <a:rPr lang="ko-KR" altLang="ko-KR" sz="2000" b="1" dirty="0" err="1">
                <a:latin typeface="+mn-ea"/>
              </a:rPr>
              <a:t>Full</a:t>
            </a:r>
            <a:r>
              <a:rPr lang="ko-KR" altLang="ko-KR" sz="2000" b="1" dirty="0">
                <a:latin typeface="+mn-ea"/>
              </a:rPr>
              <a:t>/</a:t>
            </a:r>
            <a:r>
              <a:rPr lang="ko-KR" altLang="ko-KR" sz="2000" b="1" dirty="0" err="1">
                <a:latin typeface="+mn-ea"/>
              </a:rPr>
              <a:t>Empty</a:t>
            </a:r>
            <a:r>
              <a:rPr lang="ko-KR" altLang="ko-KR" sz="2000" b="1" dirty="0">
                <a:latin typeface="+mn-ea"/>
              </a:rPr>
              <a:t> 경계 조건을 검증 </a:t>
            </a:r>
            <a:r>
              <a:rPr lang="en-US" altLang="ko-KR" sz="2000" b="1" dirty="0">
                <a:latin typeface="+mn-ea"/>
              </a:rPr>
              <a:t>		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	(2) </a:t>
            </a:r>
            <a:r>
              <a:rPr lang="ko-KR" altLang="ko-KR" sz="2000" b="1" dirty="0" err="1">
                <a:latin typeface="+mn-ea"/>
              </a:rPr>
              <a:t>Scoreboard와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ko-KR" sz="2000" b="1" dirty="0" err="1">
                <a:latin typeface="+mn-ea"/>
              </a:rPr>
              <a:t>Coverage를</a:t>
            </a:r>
            <a:r>
              <a:rPr lang="ko-KR" altLang="ko-KR" sz="2000" b="1" dirty="0">
                <a:latin typeface="+mn-ea"/>
              </a:rPr>
              <a:t> 통해 DUT 동작과 검증 범위를 확인</a:t>
            </a:r>
            <a:br>
              <a:rPr lang="ko-KR" altLang="ko-KR" sz="2000" b="1" dirty="0">
                <a:latin typeface="+mn-ea"/>
              </a:rPr>
            </a:br>
            <a:r>
              <a:rPr lang="en-US" altLang="ko-KR" sz="2000" b="1" dirty="0">
                <a:latin typeface="+mn-ea"/>
              </a:rPr>
              <a:t>	(3) </a:t>
            </a:r>
            <a:r>
              <a:rPr lang="ko-KR" altLang="ko-KR" sz="2000" b="1" dirty="0" err="1">
                <a:latin typeface="+mn-ea"/>
              </a:rPr>
              <a:t>Clocking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ko-KR" sz="2000" b="1" dirty="0" err="1">
                <a:latin typeface="+mn-ea"/>
              </a:rPr>
              <a:t>Timing을</a:t>
            </a:r>
            <a:r>
              <a:rPr lang="ko-KR" altLang="ko-KR" sz="2000" b="1" dirty="0">
                <a:latin typeface="+mn-ea"/>
              </a:rPr>
              <a:t> 수정하여 초기 </a:t>
            </a:r>
            <a:r>
              <a:rPr lang="ko-KR" altLang="ko-KR" sz="2000" b="1" dirty="0" err="1">
                <a:latin typeface="+mn-ea"/>
              </a:rPr>
              <a:t>Assertion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ko-KR" sz="2000" b="1" dirty="0" err="1">
                <a:latin typeface="+mn-ea"/>
              </a:rPr>
              <a:t>Error를</a:t>
            </a:r>
            <a:r>
              <a:rPr lang="ko-KR" altLang="ko-KR" sz="2000" b="1" dirty="0">
                <a:latin typeface="+mn-ea"/>
              </a:rPr>
              <a:t> 해결</a:t>
            </a:r>
            <a:br>
              <a:rPr lang="en-US" altLang="ko-KR" sz="2000" b="1" dirty="0">
                <a:latin typeface="+mn-ea"/>
              </a:rPr>
            </a:br>
            <a:endParaRPr lang="en-US" altLang="ko-KR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2) </a:t>
            </a:r>
            <a:r>
              <a:rPr lang="ko-KR" altLang="en-US" sz="2000" b="1" dirty="0">
                <a:latin typeface="+mn-ea"/>
              </a:rPr>
              <a:t>고찰</a:t>
            </a:r>
            <a:br>
              <a:rPr lang="en-US" altLang="ko-KR" sz="2000" b="1" dirty="0">
                <a:latin typeface="+mn-ea"/>
              </a:rPr>
            </a:br>
            <a:r>
              <a:rPr lang="en-US" altLang="ko-KR" sz="2000" b="1" dirty="0">
                <a:latin typeface="+mn-ea"/>
              </a:rPr>
              <a:t>	</a:t>
            </a:r>
            <a:r>
              <a:rPr lang="ko-KR" altLang="ko-KR" sz="2000" b="1" dirty="0">
                <a:latin typeface="+mn-ea"/>
              </a:rPr>
              <a:t>(1) </a:t>
            </a:r>
            <a:r>
              <a:rPr lang="ko-KR" altLang="ko-KR" sz="2000" b="1" dirty="0" err="1">
                <a:latin typeface="+mn-ea"/>
              </a:rPr>
              <a:t>Timing</a:t>
            </a:r>
            <a:r>
              <a:rPr lang="ko-KR" altLang="ko-KR" sz="2000" b="1" dirty="0">
                <a:latin typeface="+mn-ea"/>
              </a:rPr>
              <a:t> 개선</a:t>
            </a:r>
            <a:br>
              <a:rPr lang="ko-KR" altLang="ko-KR" sz="2000" b="1" dirty="0">
                <a:latin typeface="+mn-ea"/>
              </a:rPr>
            </a:br>
            <a:r>
              <a:rPr lang="en-US" altLang="ko-KR" sz="2000" b="1" dirty="0">
                <a:latin typeface="+mn-ea"/>
              </a:rPr>
              <a:t>	</a:t>
            </a:r>
            <a:r>
              <a:rPr lang="ko-KR" altLang="ko-KR" sz="2000" b="1" dirty="0" err="1">
                <a:latin typeface="+mn-ea"/>
              </a:rPr>
              <a:t>Assertion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ko-KR" sz="2000" b="1" dirty="0" err="1">
                <a:latin typeface="+mn-ea"/>
              </a:rPr>
              <a:t>Error</a:t>
            </a:r>
            <a:r>
              <a:rPr lang="ko-KR" altLang="ko-KR" sz="2000" b="1" dirty="0">
                <a:latin typeface="+mn-ea"/>
              </a:rPr>
              <a:t> 원인을 분석해 </a:t>
            </a:r>
            <a:r>
              <a:rPr lang="ko-KR" altLang="ko-KR" sz="2000" b="1" dirty="0" err="1">
                <a:latin typeface="+mn-ea"/>
              </a:rPr>
              <a:t>Driver와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ko-KR" sz="2000" b="1" dirty="0" err="1">
                <a:latin typeface="+mn-ea"/>
              </a:rPr>
              <a:t>Monitor의</a:t>
            </a:r>
            <a:r>
              <a:rPr lang="ko-KR" altLang="ko-KR" sz="2000" b="1" dirty="0">
                <a:latin typeface="+mn-ea"/>
              </a:rPr>
              <a:t> 동작 시점을 조정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	</a:t>
            </a:r>
            <a:r>
              <a:rPr lang="ko-KR" altLang="ko-KR" sz="2000" b="1" dirty="0">
                <a:latin typeface="+mn-ea"/>
              </a:rPr>
              <a:t>(2) 검증 확장</a:t>
            </a:r>
            <a:br>
              <a:rPr lang="ko-KR" altLang="ko-KR" sz="2000" b="1" dirty="0">
                <a:latin typeface="+mn-ea"/>
              </a:rPr>
            </a:br>
            <a:r>
              <a:rPr lang="en-US" altLang="ko-KR" sz="2000" b="1" dirty="0">
                <a:latin typeface="+mn-ea"/>
              </a:rPr>
              <a:t>	</a:t>
            </a:r>
            <a:r>
              <a:rPr lang="ko-KR" altLang="ko-KR" sz="2000" b="1" dirty="0">
                <a:latin typeface="+mn-ea"/>
              </a:rPr>
              <a:t>추후 </a:t>
            </a:r>
            <a:r>
              <a:rPr lang="ko-KR" altLang="ko-KR" sz="2000" b="1" dirty="0" err="1">
                <a:latin typeface="+mn-ea"/>
              </a:rPr>
              <a:t>Assertion과</a:t>
            </a:r>
            <a:r>
              <a:rPr lang="ko-KR" altLang="ko-KR" sz="2000" b="1" dirty="0">
                <a:latin typeface="+mn-ea"/>
              </a:rPr>
              <a:t> State </a:t>
            </a:r>
            <a:r>
              <a:rPr lang="ko-KR" altLang="ko-KR" sz="2000" b="1" dirty="0" err="1">
                <a:latin typeface="+mn-ea"/>
              </a:rPr>
              <a:t>Transition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ko-KR" sz="2000" b="1" dirty="0" err="1">
                <a:latin typeface="+mn-ea"/>
              </a:rPr>
              <a:t>Coverage를</a:t>
            </a:r>
            <a:r>
              <a:rPr lang="ko-KR" altLang="ko-KR" sz="2000" b="1" dirty="0">
                <a:latin typeface="+mn-ea"/>
              </a:rPr>
              <a:t> 추가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ko-KR" sz="2000" b="1" dirty="0">
                <a:latin typeface="+mn-ea"/>
              </a:rPr>
              <a:t>경계 조건과 상태 전이 검증을 보완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가능</a:t>
            </a:r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125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1087</Words>
  <Application>Microsoft Office PowerPoint</Application>
  <PresentationFormat>와이드스크린</PresentationFormat>
  <Paragraphs>325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Lexend Bold</vt:lpstr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m3423</cp:lastModifiedBy>
  <cp:revision>24</cp:revision>
  <dcterms:created xsi:type="dcterms:W3CDTF">2026-08-19T12:56:34Z</dcterms:created>
  <dcterms:modified xsi:type="dcterms:W3CDTF">2026-09-09T15:15:41Z</dcterms:modified>
</cp:coreProperties>
</file>